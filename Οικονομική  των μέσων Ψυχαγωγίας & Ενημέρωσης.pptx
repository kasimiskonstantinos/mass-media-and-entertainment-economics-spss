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charts/chart17.xml" ContentType="application/vnd.openxmlformats-officedocument.drawingml.char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harts/chart13.xml" ContentType="application/vnd.openxmlformats-officedocument.drawingml.chart+xml"/>
  <Override PartName="/ppt/charts/chart15.xml" ContentType="application/vnd.openxmlformats-officedocument.drawingml.char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harts/chart9.xml" ContentType="application/vnd.openxmlformats-officedocument.drawingml.chart+xml"/>
  <Override PartName="/ppt/charts/chart11.xml" ContentType="application/vnd.openxmlformats-officedocument.drawingml.chart+xml"/>
  <Override PartName="/ppt/slideLayouts/slideLayout10.xml" ContentType="application/vnd.openxmlformats-officedocument.presentationml.slideLayout+xml"/>
  <Override PartName="/ppt/charts/chart6.xml" ContentType="application/vnd.openxmlformats-officedocument.drawingml.chart+xml"/>
  <Override PartName="/ppt/charts/chart7.xml" ContentType="application/vnd.openxmlformats-officedocument.drawingml.chart+xml"/>
  <Override PartName="/ppt/charts/chart10.xml" ContentType="application/vnd.openxmlformats-officedocument.drawingml.chart+xml"/>
  <Override PartName="/ppt/diagrams/layout1.xml" ContentType="application/vnd.openxmlformats-officedocument.drawingml.diagramLayou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rawings/drawing1.xml" ContentType="application/vnd.openxmlformats-officedocument.drawingml.chartshapes+xml"/>
  <Override PartName="/ppt/charts/chart18.xml" ContentType="application/vnd.openxmlformats-officedocument.drawingml.char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charts/chart16.xml" ContentType="application/vnd.openxmlformats-officedocument.drawingml.char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charts/chart14.xml" ContentType="application/vnd.openxmlformats-officedocument.drawingml.char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charts/chart8.xml" ContentType="application/vnd.openxmlformats-officedocument.drawingml.chart+xml"/>
  <Override PartName="/ppt/charts/chart12.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handoutMasterIdLst>
    <p:handoutMasterId r:id="rId27"/>
  </p:handoutMasterIdLst>
  <p:sldIdLst>
    <p:sldId id="256" r:id="rId2"/>
    <p:sldId id="293" r:id="rId3"/>
    <p:sldId id="307" r:id="rId4"/>
    <p:sldId id="261" r:id="rId5"/>
    <p:sldId id="295" r:id="rId6"/>
    <p:sldId id="257" r:id="rId7"/>
    <p:sldId id="308" r:id="rId8"/>
    <p:sldId id="326" r:id="rId9"/>
    <p:sldId id="325" r:id="rId10"/>
    <p:sldId id="327" r:id="rId11"/>
    <p:sldId id="306" r:id="rId12"/>
    <p:sldId id="328" r:id="rId13"/>
    <p:sldId id="330" r:id="rId14"/>
    <p:sldId id="331" r:id="rId15"/>
    <p:sldId id="332" r:id="rId16"/>
    <p:sldId id="287" r:id="rId17"/>
    <p:sldId id="334" r:id="rId18"/>
    <p:sldId id="329" r:id="rId19"/>
    <p:sldId id="333" r:id="rId20"/>
    <p:sldId id="335" r:id="rId21"/>
    <p:sldId id="310" r:id="rId22"/>
    <p:sldId id="336" r:id="rId23"/>
    <p:sldId id="337" r:id="rId24"/>
    <p:sldId id="338" r:id="rId25"/>
  </p:sldIdLst>
  <p:sldSz cx="9144000" cy="6858000" type="screen4x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55" autoAdjust="0"/>
    <p:restoredTop sz="69713" autoAdjust="0"/>
  </p:normalViewPr>
  <p:slideViewPr>
    <p:cSldViewPr>
      <p:cViewPr>
        <p:scale>
          <a:sx n="66" d="100"/>
          <a:sy n="66" d="100"/>
        </p:scale>
        <p:origin x="-1482" y="-258"/>
      </p:cViewPr>
      <p:guideLst>
        <p:guide orient="horz" pos="2160"/>
        <p:guide pos="2880"/>
      </p:guideLst>
    </p:cSldViewPr>
  </p:slideViewPr>
  <p:outlineViewPr>
    <p:cViewPr>
      <p:scale>
        <a:sx n="33" d="100"/>
        <a:sy n="33" d="100"/>
      </p:scale>
      <p:origin x="0" y="1902"/>
    </p:cViewPr>
  </p:outlineViewPr>
  <p:notesTextViewPr>
    <p:cViewPr>
      <p:scale>
        <a:sx n="100" d="100"/>
        <a:sy n="100" d="100"/>
      </p:scale>
      <p:origin x="0" y="0"/>
    </p:cViewPr>
  </p:notesTextViewPr>
  <p:notesViewPr>
    <p:cSldViewPr>
      <p:cViewPr varScale="1">
        <p:scale>
          <a:sx n="55" d="100"/>
          <a:sy n="55" d="100"/>
        </p:scale>
        <p:origin x="-2868" y="-10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914;&#953;&#946;&#955;&#943;&#959;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915;&#961;&#940;&#966;&#951;&#956;&#945;%20&#963;&#964;&#959;%20Microsoft%20Office%20PowerPoint"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914;&#953;&#946;&#955;&#943;&#959;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l-GR"/>
  <c:style val="30"/>
  <c:chart>
    <c:title>
      <c:tx>
        <c:rich>
          <a:bodyPr/>
          <a:lstStyle/>
          <a:p>
            <a:pPr>
              <a:defRPr/>
            </a:pPr>
            <a:r>
              <a:rPr lang="el-GR" sz="2400" dirty="0" smtClean="0">
                <a:solidFill>
                  <a:schemeClr val="tx1"/>
                </a:solidFill>
              </a:rPr>
              <a:t>Κατανομή</a:t>
            </a:r>
            <a:r>
              <a:rPr lang="el-GR" sz="2400" baseline="0" dirty="0" smtClean="0">
                <a:solidFill>
                  <a:schemeClr val="tx1"/>
                </a:solidFill>
              </a:rPr>
              <a:t> του δείγματος ανά φύλο</a:t>
            </a:r>
          </a:p>
          <a:p>
            <a:pPr>
              <a:defRPr/>
            </a:pPr>
            <a:endParaRPr lang="el-GR" dirty="0"/>
          </a:p>
        </c:rich>
      </c:tx>
      <c:layout>
        <c:manualLayout>
          <c:xMode val="edge"/>
          <c:yMode val="edge"/>
          <c:x val="0.20544307717295213"/>
          <c:y val="0"/>
        </c:manualLayout>
      </c:layout>
    </c:title>
    <c:plotArea>
      <c:layout/>
      <c:barChart>
        <c:barDir val="col"/>
        <c:grouping val="clustered"/>
        <c:ser>
          <c:idx val="0"/>
          <c:order val="0"/>
          <c:spPr>
            <a:scene3d>
              <a:camera prst="orthographicFront"/>
              <a:lightRig rig="balanced" dir="t">
                <a:rot lat="0" lon="0" rev="8700000"/>
              </a:lightRig>
            </a:scene3d>
            <a:sp3d>
              <a:bevelT w="190500" h="38100"/>
            </a:sp3d>
          </c:spPr>
          <c:dLbls>
            <c:dLbl>
              <c:idx val="0"/>
              <c:layout/>
              <c:tx>
                <c:rich>
                  <a:bodyPr/>
                  <a:lstStyle/>
                  <a:p>
                    <a:r>
                      <a:rPr lang="el-GR" sz="1500" smtClean="0"/>
                      <a:t>2</a:t>
                    </a:r>
                    <a:r>
                      <a:rPr lang="el-GR" smtClean="0"/>
                      <a:t>1%</a:t>
                    </a:r>
                    <a:endParaRPr lang="en-US" dirty="0"/>
                  </a:p>
                </c:rich>
              </c:tx>
              <c:showVal val="1"/>
            </c:dLbl>
            <c:dLbl>
              <c:idx val="1"/>
              <c:layout/>
              <c:tx>
                <c:rich>
                  <a:bodyPr/>
                  <a:lstStyle/>
                  <a:p>
                    <a:r>
                      <a:rPr lang="el-GR" sz="1500" smtClean="0"/>
                      <a:t>7</a:t>
                    </a:r>
                    <a:r>
                      <a:rPr lang="el-GR" smtClean="0"/>
                      <a:t>9%</a:t>
                    </a:r>
                    <a:endParaRPr lang="en-US" dirty="0"/>
                  </a:p>
                </c:rich>
              </c:tx>
              <c:showVal val="1"/>
            </c:dLbl>
            <c:txPr>
              <a:bodyPr/>
              <a:lstStyle/>
              <a:p>
                <a:pPr>
                  <a:defRPr sz="1500"/>
                </a:pPr>
                <a:endParaRPr lang="el-GR"/>
              </a:p>
            </c:txPr>
            <c:showVal val="1"/>
          </c:dLbls>
          <c:cat>
            <c:strRef>
              <c:f>Φύλλο1!$A$2:$A$3</c:f>
              <c:strCache>
                <c:ptCount val="2"/>
                <c:pt idx="0">
                  <c:v>Άντρας</c:v>
                </c:pt>
                <c:pt idx="1">
                  <c:v>Γυναίκα</c:v>
                </c:pt>
              </c:strCache>
            </c:strRef>
          </c:cat>
          <c:val>
            <c:numRef>
              <c:f>Φύλλο1!$B$2:$B$3</c:f>
              <c:numCache>
                <c:formatCode>0.00%</c:formatCode>
                <c:ptCount val="2"/>
                <c:pt idx="0">
                  <c:v>0.20800000000000021</c:v>
                </c:pt>
                <c:pt idx="1">
                  <c:v>0.79200000000000004</c:v>
                </c:pt>
              </c:numCache>
            </c:numRef>
          </c:val>
        </c:ser>
        <c:dLbls>
          <c:showVal val="1"/>
        </c:dLbls>
        <c:overlap val="-25"/>
        <c:axId val="104234368"/>
        <c:axId val="104354944"/>
      </c:barChart>
      <c:catAx>
        <c:axId val="104234368"/>
        <c:scaling>
          <c:orientation val="minMax"/>
        </c:scaling>
        <c:axPos val="b"/>
        <c:majorTickMark val="none"/>
        <c:tickLblPos val="nextTo"/>
        <c:txPr>
          <a:bodyPr/>
          <a:lstStyle/>
          <a:p>
            <a:pPr>
              <a:defRPr sz="1500"/>
            </a:pPr>
            <a:endParaRPr lang="el-GR"/>
          </a:p>
        </c:txPr>
        <c:crossAx val="104354944"/>
        <c:crosses val="autoZero"/>
        <c:auto val="1"/>
        <c:lblAlgn val="ctr"/>
        <c:lblOffset val="100"/>
      </c:catAx>
      <c:valAx>
        <c:axId val="104354944"/>
        <c:scaling>
          <c:orientation val="minMax"/>
        </c:scaling>
        <c:delete val="1"/>
        <c:axPos val="l"/>
        <c:numFmt formatCode="0.00%" sourceLinked="1"/>
        <c:tickLblPos val="none"/>
        <c:crossAx val="104234368"/>
        <c:crosses val="autoZero"/>
        <c:crossBetween val="between"/>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manualLayout>
          <c:layoutTarget val="inner"/>
          <c:xMode val="edge"/>
          <c:yMode val="edge"/>
          <c:x val="0"/>
          <c:y val="0.11242206253177256"/>
          <c:w val="1"/>
          <c:h val="0.70525413001249015"/>
        </c:manualLayout>
      </c:layout>
      <c:barChart>
        <c:barDir val="col"/>
        <c:grouping val="clustered"/>
        <c:ser>
          <c:idx val="0"/>
          <c:order val="0"/>
          <c:spPr>
            <a:effectLst>
              <a:outerShdw blurRad="152400" dist="317500" dir="5400000" sx="90000" sy="-19000" rotWithShape="0">
                <a:prstClr val="black">
                  <a:alpha val="15000"/>
                </a:prstClr>
              </a:outerShdw>
            </a:effectLst>
            <a:scene3d>
              <a:camera prst="orthographicFront"/>
              <a:lightRig rig="balanced" dir="t">
                <a:rot lat="0" lon="0" rev="8700000"/>
              </a:lightRig>
            </a:scene3d>
            <a:sp3d>
              <a:bevelT w="190500" h="38100"/>
            </a:sp3d>
          </c:spPr>
          <c:dLbls>
            <c:dLbl>
              <c:idx val="0"/>
              <c:layout/>
              <c:tx>
                <c:rich>
                  <a:bodyPr/>
                  <a:lstStyle/>
                  <a:p>
                    <a:r>
                      <a:rPr lang="el-GR" sz="1500" smtClean="0"/>
                      <a:t>1</a:t>
                    </a:r>
                    <a:r>
                      <a:rPr lang="el-GR" smtClean="0"/>
                      <a:t>6%</a:t>
                    </a:r>
                    <a:endParaRPr lang="en-US" dirty="0"/>
                  </a:p>
                </c:rich>
              </c:tx>
              <c:showVal val="1"/>
            </c:dLbl>
            <c:dLbl>
              <c:idx val="1"/>
              <c:layout/>
              <c:tx>
                <c:rich>
                  <a:bodyPr/>
                  <a:lstStyle/>
                  <a:p>
                    <a:r>
                      <a:rPr lang="el-GR" sz="1500" smtClean="0"/>
                      <a:t>1</a:t>
                    </a:r>
                    <a:r>
                      <a:rPr lang="el-GR" smtClean="0"/>
                      <a:t>9%</a:t>
                    </a:r>
                    <a:endParaRPr lang="en-US" dirty="0"/>
                  </a:p>
                </c:rich>
              </c:tx>
              <c:showVal val="1"/>
            </c:dLbl>
            <c:dLbl>
              <c:idx val="2"/>
              <c:layout/>
              <c:tx>
                <c:rich>
                  <a:bodyPr/>
                  <a:lstStyle/>
                  <a:p>
                    <a:r>
                      <a:rPr lang="el-GR" sz="1500" smtClean="0"/>
                      <a:t>1</a:t>
                    </a:r>
                    <a:r>
                      <a:rPr lang="el-GR" smtClean="0"/>
                      <a:t>7%</a:t>
                    </a:r>
                    <a:endParaRPr lang="en-US" dirty="0"/>
                  </a:p>
                </c:rich>
              </c:tx>
              <c:showVal val="1"/>
            </c:dLbl>
            <c:dLbl>
              <c:idx val="3"/>
              <c:layout/>
              <c:tx>
                <c:rich>
                  <a:bodyPr/>
                  <a:lstStyle/>
                  <a:p>
                    <a:r>
                      <a:rPr lang="el-GR" sz="1500" smtClean="0"/>
                      <a:t>1</a:t>
                    </a:r>
                    <a:r>
                      <a:rPr lang="el-GR" smtClean="0"/>
                      <a:t>6%</a:t>
                    </a:r>
                    <a:endParaRPr lang="en-US" dirty="0"/>
                  </a:p>
                </c:rich>
              </c:tx>
              <c:showVal val="1"/>
            </c:dLbl>
            <c:dLbl>
              <c:idx val="4"/>
              <c:layout/>
              <c:tx>
                <c:rich>
                  <a:bodyPr/>
                  <a:lstStyle/>
                  <a:p>
                    <a:r>
                      <a:rPr lang="el-GR" sz="1500" smtClean="0"/>
                      <a:t>1</a:t>
                    </a:r>
                    <a:r>
                      <a:rPr lang="el-GR" smtClean="0"/>
                      <a:t>4%</a:t>
                    </a:r>
                    <a:endParaRPr lang="en-US" dirty="0"/>
                  </a:p>
                </c:rich>
              </c:tx>
              <c:showVal val="1"/>
            </c:dLbl>
            <c:dLbl>
              <c:idx val="5"/>
              <c:layout/>
              <c:tx>
                <c:rich>
                  <a:bodyPr/>
                  <a:lstStyle/>
                  <a:p>
                    <a:r>
                      <a:rPr lang="el-GR" sz="1500" smtClean="0"/>
                      <a:t>1</a:t>
                    </a:r>
                    <a:r>
                      <a:rPr lang="el-GR" smtClean="0"/>
                      <a:t>8%</a:t>
                    </a:r>
                    <a:endParaRPr lang="en-US" dirty="0"/>
                  </a:p>
                </c:rich>
              </c:tx>
              <c:showVal val="1"/>
            </c:dLbl>
            <c:txPr>
              <a:bodyPr/>
              <a:lstStyle/>
              <a:p>
                <a:pPr>
                  <a:defRPr sz="1500"/>
                </a:pPr>
                <a:endParaRPr lang="el-GR"/>
              </a:p>
            </c:txPr>
            <c:showVal val="1"/>
          </c:dLbls>
          <c:cat>
            <c:strRef>
              <c:f>Φύλλο2!$B$2:$B$7</c:f>
              <c:strCache>
                <c:ptCount val="6"/>
                <c:pt idx="0">
                  <c:v>16-25</c:v>
                </c:pt>
                <c:pt idx="1">
                  <c:v>26-35</c:v>
                </c:pt>
                <c:pt idx="2">
                  <c:v>36-45</c:v>
                </c:pt>
                <c:pt idx="3">
                  <c:v>46-55</c:v>
                </c:pt>
                <c:pt idx="4">
                  <c:v>56-65</c:v>
                </c:pt>
                <c:pt idx="5">
                  <c:v>65+</c:v>
                </c:pt>
              </c:strCache>
            </c:strRef>
          </c:cat>
          <c:val>
            <c:numRef>
              <c:f>Φύλλο2!$C$2:$C$7</c:f>
              <c:numCache>
                <c:formatCode>0.00%</c:formatCode>
                <c:ptCount val="6"/>
                <c:pt idx="0">
                  <c:v>0.16</c:v>
                </c:pt>
                <c:pt idx="1">
                  <c:v>0.18700000000000025</c:v>
                </c:pt>
                <c:pt idx="2">
                  <c:v>0.17550000000000004</c:v>
                </c:pt>
                <c:pt idx="3">
                  <c:v>0.15750000000000025</c:v>
                </c:pt>
                <c:pt idx="4">
                  <c:v>0.13600000000000001</c:v>
                </c:pt>
                <c:pt idx="5">
                  <c:v>0.18400000000000022</c:v>
                </c:pt>
              </c:numCache>
            </c:numRef>
          </c:val>
        </c:ser>
        <c:dLbls>
          <c:showVal val="1"/>
        </c:dLbls>
        <c:overlap val="-25"/>
        <c:axId val="104386560"/>
        <c:axId val="104388096"/>
      </c:barChart>
      <c:catAx>
        <c:axId val="104386560"/>
        <c:scaling>
          <c:orientation val="minMax"/>
        </c:scaling>
        <c:axPos val="b"/>
        <c:majorTickMark val="none"/>
        <c:tickLblPos val="nextTo"/>
        <c:txPr>
          <a:bodyPr/>
          <a:lstStyle/>
          <a:p>
            <a:pPr>
              <a:defRPr sz="1200"/>
            </a:pPr>
            <a:endParaRPr lang="el-GR"/>
          </a:p>
        </c:txPr>
        <c:crossAx val="104388096"/>
        <c:crosses val="autoZero"/>
        <c:auto val="1"/>
        <c:lblAlgn val="ctr"/>
        <c:lblOffset val="100"/>
      </c:catAx>
      <c:valAx>
        <c:axId val="104388096"/>
        <c:scaling>
          <c:orientation val="minMax"/>
        </c:scaling>
        <c:delete val="1"/>
        <c:axPos val="l"/>
        <c:numFmt formatCode="0.00%" sourceLinked="1"/>
        <c:tickLblPos val="none"/>
        <c:crossAx val="104386560"/>
        <c:crosses val="autoZero"/>
        <c:crossBetween val="between"/>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l-GR"/>
  <c:chart>
    <c:autoTitleDeleted val="1"/>
    <c:view3D>
      <c:rotX val="30"/>
      <c:perspective val="30"/>
    </c:view3D>
    <c:plotArea>
      <c:layout>
        <c:manualLayout>
          <c:layoutTarget val="inner"/>
          <c:xMode val="edge"/>
          <c:yMode val="edge"/>
          <c:x val="2.8242563429571321E-2"/>
          <c:y val="0.12027614747786651"/>
          <c:w val="0.73428499562554683"/>
          <c:h val="0.80810130292036519"/>
        </c:manualLayout>
      </c:layout>
      <c:pie3DChart>
        <c:varyColors val="1"/>
        <c:ser>
          <c:idx val="0"/>
          <c:order val="0"/>
          <c:dLbls>
            <c:dLbl>
              <c:idx val="0"/>
              <c:layout>
                <c:manualLayout>
                  <c:x val="-0.15075371828521436"/>
                  <c:y val="7.8387544481589591E-2"/>
                </c:manualLayout>
              </c:layout>
              <c:showPercent val="1"/>
            </c:dLbl>
            <c:dLbl>
              <c:idx val="1"/>
              <c:layout>
                <c:manualLayout>
                  <c:x val="7.2908081802274746E-2"/>
                  <c:y val="-0.36393893944443895"/>
                </c:manualLayout>
              </c:layout>
              <c:showPercent val="1"/>
            </c:dLbl>
            <c:dLbl>
              <c:idx val="2"/>
              <c:layout>
                <c:manualLayout>
                  <c:x val="0.15071002843394576"/>
                  <c:y val="8.3302402426666436E-2"/>
                </c:manualLayout>
              </c:layout>
              <c:showPercent val="1"/>
            </c:dLbl>
            <c:txPr>
              <a:bodyPr/>
              <a:lstStyle/>
              <a:p>
                <a:pPr>
                  <a:defRPr sz="2000"/>
                </a:pPr>
                <a:endParaRPr lang="el-GR"/>
              </a:p>
            </c:txPr>
            <c:showPercent val="1"/>
            <c:showLeaderLines val="1"/>
          </c:dLbls>
          <c:cat>
            <c:strRef>
              <c:f>Φύλλο6!$A$1:$A$3</c:f>
              <c:strCache>
                <c:ptCount val="3"/>
                <c:pt idx="0">
                  <c:v>Λίγο</c:v>
                </c:pt>
                <c:pt idx="1">
                  <c:v>Μέτρια</c:v>
                </c:pt>
                <c:pt idx="2">
                  <c:v>Πολύ</c:v>
                </c:pt>
              </c:strCache>
            </c:strRef>
          </c:cat>
          <c:val>
            <c:numRef>
              <c:f>Φύλλο6!$C$1:$C$3</c:f>
              <c:numCache>
                <c:formatCode>0.00%</c:formatCode>
                <c:ptCount val="3"/>
                <c:pt idx="0">
                  <c:v>0.36400000000000021</c:v>
                </c:pt>
                <c:pt idx="1">
                  <c:v>0.31500000000000017</c:v>
                </c:pt>
                <c:pt idx="2">
                  <c:v>0.32100000000000017</c:v>
                </c:pt>
              </c:numCache>
            </c:numRef>
          </c:val>
        </c:ser>
        <c:dLbls>
          <c:showPercent val="1"/>
        </c:dLbls>
      </c:pie3DChart>
      <c:spPr>
        <a:effectLst>
          <a:outerShdw blurRad="50800" dist="38100" dir="8100000" algn="tr" rotWithShape="0">
            <a:prstClr val="black">
              <a:alpha val="40000"/>
            </a:prstClr>
          </a:outerShdw>
        </a:effectLst>
      </c:spPr>
    </c:plotArea>
    <c:legend>
      <c:legendPos val="r"/>
      <c:layout>
        <c:manualLayout>
          <c:xMode val="edge"/>
          <c:yMode val="edge"/>
          <c:x val="0.85327012248468981"/>
          <c:y val="0.19577433315490203"/>
          <c:w val="0.1383965441819773"/>
          <c:h val="0.59241755124851447"/>
        </c:manualLayout>
      </c:layout>
      <c:txPr>
        <a:bodyPr/>
        <a:lstStyle/>
        <a:p>
          <a:pPr>
            <a:defRPr sz="1800"/>
          </a:pPr>
          <a:endParaRPr lang="el-GR"/>
        </a:p>
      </c:txPr>
    </c:legend>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l-GR"/>
  <c:chart>
    <c:autoTitleDeleted val="1"/>
    <c:view3D>
      <c:rotX val="30"/>
      <c:perspective val="30"/>
    </c:view3D>
    <c:plotArea>
      <c:layout>
        <c:manualLayout>
          <c:layoutTarget val="inner"/>
          <c:xMode val="edge"/>
          <c:yMode val="edge"/>
          <c:x val="6.2667689269825577E-2"/>
          <c:y val="7.9166666666666691E-2"/>
          <c:w val="0.66782417325453625"/>
          <c:h val="0.83425925925925959"/>
        </c:manualLayout>
      </c:layout>
      <c:pie3DChart>
        <c:varyColors val="1"/>
        <c:ser>
          <c:idx val="0"/>
          <c:order val="0"/>
          <c:dLbls>
            <c:dLbl>
              <c:idx val="0"/>
              <c:layout>
                <c:manualLayout>
                  <c:x val="-0.10876154529903315"/>
                  <c:y val="6.3664041994750661E-2"/>
                </c:manualLayout>
              </c:layout>
              <c:showPercent val="1"/>
            </c:dLbl>
            <c:dLbl>
              <c:idx val="1"/>
              <c:layout>
                <c:manualLayout>
                  <c:x val="-0.19684315395273164"/>
                  <c:y val="-7.6807669874599013E-2"/>
                </c:manualLayout>
              </c:layout>
              <c:showPercent val="1"/>
            </c:dLbl>
            <c:dLbl>
              <c:idx val="2"/>
              <c:layout>
                <c:manualLayout>
                  <c:x val="0.16616981302320172"/>
                  <c:y val="-6.177165354330709E-2"/>
                </c:manualLayout>
              </c:layout>
              <c:showPercent val="1"/>
            </c:dLbl>
            <c:txPr>
              <a:bodyPr/>
              <a:lstStyle/>
              <a:p>
                <a:pPr>
                  <a:defRPr sz="1600"/>
                </a:pPr>
                <a:endParaRPr lang="el-GR"/>
              </a:p>
            </c:txPr>
            <c:showPercent val="1"/>
            <c:showLeaderLines val="1"/>
          </c:dLbls>
          <c:cat>
            <c:strRef>
              <c:f>Φύλλο2!$A$4:$A$6</c:f>
              <c:strCache>
                <c:ptCount val="3"/>
                <c:pt idx="0">
                  <c:v>Λίγο</c:v>
                </c:pt>
                <c:pt idx="1">
                  <c:v>Μέτρια</c:v>
                </c:pt>
                <c:pt idx="2">
                  <c:v>Πολύ</c:v>
                </c:pt>
              </c:strCache>
            </c:strRef>
          </c:cat>
          <c:val>
            <c:numRef>
              <c:f>Φύλλο2!$B$4:$B$6</c:f>
              <c:numCache>
                <c:formatCode>0.00%</c:formatCode>
                <c:ptCount val="3"/>
                <c:pt idx="0">
                  <c:v>0.16969999999999999</c:v>
                </c:pt>
                <c:pt idx="1">
                  <c:v>0.29640000000000016</c:v>
                </c:pt>
                <c:pt idx="2">
                  <c:v>0.53390000000000004</c:v>
                </c:pt>
              </c:numCache>
            </c:numRef>
          </c:val>
        </c:ser>
        <c:dLbls>
          <c:showPercent val="1"/>
        </c:dLbls>
      </c:pie3DChart>
    </c:plotArea>
    <c:legend>
      <c:legendPos val="r"/>
      <c:layout>
        <c:manualLayout>
          <c:xMode val="edge"/>
          <c:yMode val="edge"/>
          <c:x val="0.73165242628383498"/>
          <c:y val="0.39586030912802606"/>
          <c:w val="0.2082720805335754"/>
          <c:h val="0.13976071741032378"/>
        </c:manualLayout>
      </c:layout>
      <c:txPr>
        <a:bodyPr/>
        <a:lstStyle/>
        <a:p>
          <a:pPr>
            <a:defRPr sz="1500"/>
          </a:pPr>
          <a:endParaRPr lang="el-GR"/>
        </a:p>
      </c:txPr>
    </c:legend>
    <c:plotVisOnly val="1"/>
  </c:chart>
  <c:externalData r:id="rId1"/>
  <c:userShapes r:id="rId2"/>
</c:chartSpace>
</file>

<file path=ppt/charts/chart5.xml><?xml version="1.0" encoding="utf-8"?>
<c:chartSpace xmlns:c="http://schemas.openxmlformats.org/drawingml/2006/chart" xmlns:a="http://schemas.openxmlformats.org/drawingml/2006/main" xmlns:r="http://schemas.openxmlformats.org/officeDocument/2006/relationships">
  <c:lang val="el-GR"/>
  <c:chart>
    <c:autoTitleDeleted val="1"/>
    <c:view3D>
      <c:rotX val="30"/>
      <c:perspective val="30"/>
    </c:view3D>
    <c:plotArea>
      <c:layout/>
      <c:pie3DChart>
        <c:varyColors val="1"/>
        <c:ser>
          <c:idx val="0"/>
          <c:order val="0"/>
          <c:dLbls>
            <c:dLbl>
              <c:idx val="0"/>
              <c:layout>
                <c:manualLayout>
                  <c:x val="-0.21680380577427821"/>
                  <c:y val="3.3696558763487885E-2"/>
                </c:manualLayout>
              </c:layout>
              <c:showPercent val="1"/>
            </c:dLbl>
            <c:dLbl>
              <c:idx val="1"/>
              <c:layout>
                <c:manualLayout>
                  <c:x val="3.1576990376202992E-2"/>
                  <c:y val="-0.14424292796733748"/>
                </c:manualLayout>
              </c:layout>
              <c:showPercent val="1"/>
            </c:dLbl>
            <c:dLbl>
              <c:idx val="2"/>
              <c:layout>
                <c:manualLayout>
                  <c:x val="0.22428947944006999"/>
                  <c:y val="3.4970836978710992E-2"/>
                </c:manualLayout>
              </c:layout>
              <c:showPercent val="1"/>
            </c:dLbl>
            <c:txPr>
              <a:bodyPr/>
              <a:lstStyle/>
              <a:p>
                <a:pPr>
                  <a:defRPr sz="1600"/>
                </a:pPr>
                <a:endParaRPr lang="el-GR"/>
              </a:p>
            </c:txPr>
            <c:showPercent val="1"/>
            <c:showLeaderLines val="1"/>
          </c:dLbls>
          <c:cat>
            <c:strRef>
              <c:f>Φύλλο6!$A$1:$A$3</c:f>
              <c:strCache>
                <c:ptCount val="3"/>
                <c:pt idx="0">
                  <c:v>Λίγο</c:v>
                </c:pt>
                <c:pt idx="1">
                  <c:v>Μέτρια</c:v>
                </c:pt>
                <c:pt idx="2">
                  <c:v>Πολύ</c:v>
                </c:pt>
              </c:strCache>
            </c:strRef>
          </c:cat>
          <c:val>
            <c:numRef>
              <c:f>Φύλλο6!$B$1:$B$3</c:f>
              <c:numCache>
                <c:formatCode>0.00%</c:formatCode>
                <c:ptCount val="3"/>
                <c:pt idx="0">
                  <c:v>0.35610000000000008</c:v>
                </c:pt>
                <c:pt idx="1">
                  <c:v>0.29920000000000002</c:v>
                </c:pt>
                <c:pt idx="2">
                  <c:v>0.34470000000000001</c:v>
                </c:pt>
              </c:numCache>
            </c:numRef>
          </c:val>
        </c:ser>
        <c:dLbls>
          <c:showPercent val="1"/>
        </c:dLbls>
      </c:pie3DChart>
    </c:plotArea>
    <c:plotVisOnly val="1"/>
  </c:chart>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l-GR"/>
  <c:chart>
    <c:autoTitleDeleted val="1"/>
    <c:plotArea>
      <c:layout>
        <c:manualLayout>
          <c:layoutTarget val="inner"/>
          <c:xMode val="edge"/>
          <c:yMode val="edge"/>
          <c:x val="0"/>
          <c:y val="3.4036179215954573E-2"/>
          <c:w val="0.98472222222222228"/>
          <c:h val="0.7722414371112768"/>
        </c:manualLayout>
      </c:layout>
      <c:barChart>
        <c:barDir val="col"/>
        <c:grouping val="clustered"/>
        <c:ser>
          <c:idx val="0"/>
          <c:order val="0"/>
          <c:spPr>
            <a:scene3d>
              <a:camera prst="orthographicFront"/>
              <a:lightRig rig="threePt" dir="t"/>
            </a:scene3d>
            <a:sp3d>
              <a:bevelT w="190500" h="38100"/>
            </a:sp3d>
          </c:spPr>
          <c:dPt>
            <c:idx val="0"/>
            <c:spPr>
              <a:solidFill>
                <a:srgbClr val="002060"/>
              </a:solidFill>
              <a:scene3d>
                <a:camera prst="orthographicFront"/>
                <a:lightRig rig="threePt" dir="t"/>
              </a:scene3d>
              <a:sp3d>
                <a:bevelT w="190500" h="38100"/>
              </a:sp3d>
            </c:spPr>
          </c:dPt>
          <c:dPt>
            <c:idx val="1"/>
            <c:spPr>
              <a:solidFill>
                <a:srgbClr val="002060"/>
              </a:solidFill>
              <a:scene3d>
                <a:camera prst="orthographicFront"/>
                <a:lightRig rig="threePt" dir="t"/>
              </a:scene3d>
              <a:sp3d>
                <a:bevelT w="190500" h="38100"/>
              </a:sp3d>
            </c:spPr>
          </c:dPt>
          <c:dPt>
            <c:idx val="2"/>
            <c:spPr>
              <a:solidFill>
                <a:srgbClr val="002060"/>
              </a:solidFill>
              <a:scene3d>
                <a:camera prst="orthographicFront"/>
                <a:lightRig rig="threePt" dir="t"/>
              </a:scene3d>
              <a:sp3d>
                <a:bevelT w="190500" h="38100"/>
              </a:sp3d>
            </c:spPr>
          </c:dPt>
          <c:dPt>
            <c:idx val="4"/>
            <c:spPr>
              <a:solidFill>
                <a:schemeClr val="accent2"/>
              </a:solidFill>
              <a:scene3d>
                <a:camera prst="orthographicFront"/>
                <a:lightRig rig="threePt" dir="t"/>
              </a:scene3d>
              <a:sp3d>
                <a:bevelT w="190500" h="38100"/>
              </a:sp3d>
            </c:spPr>
          </c:dPt>
          <c:dPt>
            <c:idx val="5"/>
            <c:spPr>
              <a:solidFill>
                <a:srgbClr val="E40059"/>
              </a:solidFill>
              <a:scene3d>
                <a:camera prst="orthographicFront"/>
                <a:lightRig rig="threePt" dir="t"/>
              </a:scene3d>
              <a:sp3d>
                <a:bevelT w="190500" h="38100"/>
              </a:sp3d>
            </c:spPr>
          </c:dPt>
          <c:dPt>
            <c:idx val="6"/>
            <c:spPr>
              <a:solidFill>
                <a:srgbClr val="E40059"/>
              </a:solidFill>
              <a:scene3d>
                <a:camera prst="orthographicFront"/>
                <a:lightRig rig="threePt" dir="t"/>
              </a:scene3d>
              <a:sp3d>
                <a:bevelT w="190500" h="38100"/>
              </a:sp3d>
            </c:spPr>
          </c:dPt>
          <c:dLbls>
            <c:txPr>
              <a:bodyPr/>
              <a:lstStyle/>
              <a:p>
                <a:pPr>
                  <a:defRPr sz="1200"/>
                </a:pPr>
                <a:endParaRPr lang="el-GR"/>
              </a:p>
            </c:txPr>
            <c:showVal val="1"/>
          </c:dLbls>
          <c:cat>
            <c:strRef>
              <c:f>Φύλλο5!$A$3:$A$9</c:f>
              <c:strCache>
                <c:ptCount val="7"/>
                <c:pt idx="0">
                  <c:v>Λίγο</c:v>
                </c:pt>
                <c:pt idx="1">
                  <c:v>Μέτρια </c:v>
                </c:pt>
                <c:pt idx="2">
                  <c:v>Πολύ</c:v>
                </c:pt>
                <c:pt idx="4">
                  <c:v>Λίγο</c:v>
                </c:pt>
                <c:pt idx="5">
                  <c:v>Μέτρια </c:v>
                </c:pt>
                <c:pt idx="6">
                  <c:v>Πολύ</c:v>
                </c:pt>
              </c:strCache>
            </c:strRef>
          </c:cat>
          <c:val>
            <c:numRef>
              <c:f>Φύλλο5!$B$3:$B$9</c:f>
              <c:numCache>
                <c:formatCode>0.00%</c:formatCode>
                <c:ptCount val="7"/>
                <c:pt idx="0">
                  <c:v>0.39660000000000017</c:v>
                </c:pt>
                <c:pt idx="1">
                  <c:v>0.37500000000000017</c:v>
                </c:pt>
                <c:pt idx="2">
                  <c:v>0.22839999999999999</c:v>
                </c:pt>
                <c:pt idx="4">
                  <c:v>0.35610000000000008</c:v>
                </c:pt>
                <c:pt idx="5">
                  <c:v>0.29920000000000002</c:v>
                </c:pt>
                <c:pt idx="6">
                  <c:v>0.34470000000000001</c:v>
                </c:pt>
              </c:numCache>
            </c:numRef>
          </c:val>
        </c:ser>
        <c:dLbls>
          <c:showVal val="1"/>
        </c:dLbls>
        <c:overlap val="-25"/>
        <c:axId val="105576320"/>
        <c:axId val="105577856"/>
      </c:barChart>
      <c:catAx>
        <c:axId val="105576320"/>
        <c:scaling>
          <c:orientation val="minMax"/>
        </c:scaling>
        <c:axPos val="b"/>
        <c:majorTickMark val="none"/>
        <c:tickLblPos val="nextTo"/>
        <c:txPr>
          <a:bodyPr/>
          <a:lstStyle/>
          <a:p>
            <a:pPr>
              <a:defRPr sz="1500"/>
            </a:pPr>
            <a:endParaRPr lang="el-GR"/>
          </a:p>
        </c:txPr>
        <c:crossAx val="105577856"/>
        <c:crosses val="autoZero"/>
        <c:auto val="1"/>
        <c:lblAlgn val="ctr"/>
        <c:lblOffset val="100"/>
      </c:catAx>
      <c:valAx>
        <c:axId val="105577856"/>
        <c:scaling>
          <c:orientation val="minMax"/>
        </c:scaling>
        <c:delete val="1"/>
        <c:axPos val="l"/>
        <c:numFmt formatCode="0.00%" sourceLinked="1"/>
        <c:majorTickMark val="none"/>
        <c:tickLblPos val="none"/>
        <c:crossAx val="105576320"/>
        <c:crosses val="autoZero"/>
        <c:crossBetween val="between"/>
      </c:valAx>
    </c:plotArea>
    <c:plotVisOnly val="1"/>
  </c:chart>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manualLayout>
          <c:layoutTarget val="inner"/>
          <c:xMode val="edge"/>
          <c:yMode val="edge"/>
          <c:x val="0"/>
          <c:y val="6.4388789252693368E-2"/>
          <c:w val="0.98472222222222228"/>
          <c:h val="0.65097727236656355"/>
        </c:manualLayout>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200"/>
                </a:pPr>
                <a:endParaRPr lang="el-GR"/>
              </a:p>
            </c:txPr>
            <c:showVal val="1"/>
          </c:dLbls>
          <c:cat>
            <c:strRef>
              <c:f>'[Γράφημα στο Microsoft Office PowerPoint]Φύλλο7'!$D$2:$D$10</c:f>
              <c:strCache>
                <c:ptCount val="9"/>
                <c:pt idx="0">
                  <c:v>Λαϊκά</c:v>
                </c:pt>
                <c:pt idx="1">
                  <c:v>Έντεχνα</c:v>
                </c:pt>
                <c:pt idx="2">
                  <c:v>Παραδοσιακή-Δημοτική</c:v>
                </c:pt>
                <c:pt idx="3">
                  <c:v>Κλασσική</c:v>
                </c:pt>
                <c:pt idx="4">
                  <c:v>Disco-Pop</c:v>
                </c:pt>
                <c:pt idx="5">
                  <c:v>House-Trance-Electric</c:v>
                </c:pt>
                <c:pt idx="6">
                  <c:v>RnB-HipHop</c:v>
                </c:pt>
                <c:pt idx="7">
                  <c:v>Rock-Metal</c:v>
                </c:pt>
                <c:pt idx="8">
                  <c:v>Jazz-Blues</c:v>
                </c:pt>
              </c:strCache>
            </c:strRef>
          </c:cat>
          <c:val>
            <c:numRef>
              <c:f>'[Γράφημα στο Microsoft Office PowerPoint]Φύλλο7'!$E$2:$E$10</c:f>
              <c:numCache>
                <c:formatCode>###0.0%</c:formatCode>
                <c:ptCount val="9"/>
                <c:pt idx="0">
                  <c:v>0.46883049974239932</c:v>
                </c:pt>
                <c:pt idx="1">
                  <c:v>0.57444616177227881</c:v>
                </c:pt>
                <c:pt idx="2">
                  <c:v>0.32509015971148808</c:v>
                </c:pt>
                <c:pt idx="3">
                  <c:v>0.25502318392581186</c:v>
                </c:pt>
                <c:pt idx="4">
                  <c:v>0.32251416795466364</c:v>
                </c:pt>
                <c:pt idx="5">
                  <c:v>0.12055641421947418</c:v>
                </c:pt>
                <c:pt idx="6">
                  <c:v>0.11488923235445606</c:v>
                </c:pt>
                <c:pt idx="7">
                  <c:v>0.44410097887686656</c:v>
                </c:pt>
                <c:pt idx="8">
                  <c:v>0.34312210200927323</c:v>
                </c:pt>
              </c:numCache>
            </c:numRef>
          </c:val>
        </c:ser>
        <c:dLbls>
          <c:showVal val="1"/>
        </c:dLbls>
        <c:overlap val="-25"/>
        <c:axId val="105610240"/>
        <c:axId val="105620224"/>
      </c:barChart>
      <c:catAx>
        <c:axId val="105610240"/>
        <c:scaling>
          <c:orientation val="minMax"/>
        </c:scaling>
        <c:axPos val="b"/>
        <c:majorTickMark val="none"/>
        <c:tickLblPos val="nextTo"/>
        <c:crossAx val="105620224"/>
        <c:crosses val="autoZero"/>
        <c:auto val="1"/>
        <c:lblAlgn val="ctr"/>
        <c:lblOffset val="100"/>
      </c:catAx>
      <c:valAx>
        <c:axId val="105620224"/>
        <c:scaling>
          <c:orientation val="minMax"/>
        </c:scaling>
        <c:delete val="1"/>
        <c:axPos val="l"/>
        <c:numFmt formatCode="###0.0%" sourceLinked="1"/>
        <c:tickLblPos val="none"/>
        <c:crossAx val="105610240"/>
        <c:crosses val="autoZero"/>
        <c:crossBetween val="between"/>
      </c:valAx>
    </c:plotArea>
    <c:plotVisOnly val="1"/>
  </c:chart>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800"/>
                </a:pPr>
                <a:endParaRPr lang="el-GR"/>
              </a:p>
            </c:txPr>
            <c:showVal val="1"/>
          </c:dLbls>
          <c:cat>
            <c:strRef>
              <c:f>Φύλλο7!$A$1:$A$2</c:f>
              <c:strCache>
                <c:ptCount val="2"/>
                <c:pt idx="0">
                  <c:v>Ναι</c:v>
                </c:pt>
                <c:pt idx="1">
                  <c:v>Όχι</c:v>
                </c:pt>
              </c:strCache>
            </c:strRef>
          </c:cat>
          <c:val>
            <c:numRef>
              <c:f>Φύλλο7!$B$1:$B$2</c:f>
              <c:numCache>
                <c:formatCode>0%</c:formatCode>
                <c:ptCount val="2"/>
                <c:pt idx="0">
                  <c:v>0.19</c:v>
                </c:pt>
                <c:pt idx="1">
                  <c:v>0.81</c:v>
                </c:pt>
              </c:numCache>
            </c:numRef>
          </c:val>
        </c:ser>
        <c:dLbls>
          <c:showVal val="1"/>
        </c:dLbls>
        <c:overlap val="-25"/>
        <c:axId val="105640320"/>
        <c:axId val="105641856"/>
      </c:barChart>
      <c:catAx>
        <c:axId val="105640320"/>
        <c:scaling>
          <c:orientation val="minMax"/>
        </c:scaling>
        <c:axPos val="b"/>
        <c:majorTickMark val="none"/>
        <c:tickLblPos val="nextTo"/>
        <c:txPr>
          <a:bodyPr/>
          <a:lstStyle/>
          <a:p>
            <a:pPr>
              <a:defRPr sz="1500"/>
            </a:pPr>
            <a:endParaRPr lang="el-GR"/>
          </a:p>
        </c:txPr>
        <c:crossAx val="105641856"/>
        <c:crosses val="autoZero"/>
        <c:auto val="1"/>
        <c:lblAlgn val="ctr"/>
        <c:lblOffset val="100"/>
      </c:catAx>
      <c:valAx>
        <c:axId val="105641856"/>
        <c:scaling>
          <c:orientation val="minMax"/>
        </c:scaling>
        <c:delete val="1"/>
        <c:axPos val="l"/>
        <c:numFmt formatCode="0%" sourceLinked="1"/>
        <c:tickLblPos val="none"/>
        <c:crossAx val="105640320"/>
        <c:crosses val="autoZero"/>
        <c:crossBetween val="between"/>
      </c:valAx>
    </c:plotArea>
    <c:plotVisOnly val="1"/>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500"/>
                </a:pPr>
                <a:endParaRPr lang="el-GR"/>
              </a:p>
            </c:txPr>
            <c:showVal val="1"/>
          </c:dLbls>
          <c:cat>
            <c:strRef>
              <c:f>Φύλλο8!$A$1:$A$5</c:f>
              <c:strCache>
                <c:ptCount val="5"/>
                <c:pt idx="0">
                  <c:v>Προτάθηκε από φίλο</c:v>
                </c:pt>
                <c:pt idx="1">
                  <c:v>Λόγω συγκεκριμένου διαγωνιζόμενου</c:v>
                </c:pt>
                <c:pt idx="2">
                  <c:v>Δημοτικότητα των Coach</c:v>
                </c:pt>
                <c:pt idx="3">
                  <c:v>Αξιοκρατική διαδικασία</c:v>
                </c:pt>
                <c:pt idx="4">
                  <c:v>Λόγω του επιπέδου των φωνών</c:v>
                </c:pt>
              </c:strCache>
            </c:strRef>
          </c:cat>
          <c:val>
            <c:numRef>
              <c:f>Φύλλο8!$B$1:$B$5</c:f>
              <c:numCache>
                <c:formatCode>###0.0%</c:formatCode>
                <c:ptCount val="5"/>
                <c:pt idx="0">
                  <c:v>7.3047858942065488E-2</c:v>
                </c:pt>
                <c:pt idx="1">
                  <c:v>0.19395465994962222</c:v>
                </c:pt>
                <c:pt idx="2">
                  <c:v>0.59445843828715361</c:v>
                </c:pt>
                <c:pt idx="3">
                  <c:v>0.76574307304785982</c:v>
                </c:pt>
                <c:pt idx="4">
                  <c:v>0.652392947103275</c:v>
                </c:pt>
              </c:numCache>
            </c:numRef>
          </c:val>
        </c:ser>
        <c:dLbls>
          <c:showVal val="1"/>
        </c:dLbls>
        <c:overlap val="-25"/>
        <c:axId val="105678336"/>
        <c:axId val="105679872"/>
      </c:barChart>
      <c:catAx>
        <c:axId val="105678336"/>
        <c:scaling>
          <c:orientation val="minMax"/>
        </c:scaling>
        <c:axPos val="b"/>
        <c:majorTickMark val="none"/>
        <c:tickLblPos val="nextTo"/>
        <c:txPr>
          <a:bodyPr/>
          <a:lstStyle/>
          <a:p>
            <a:pPr>
              <a:defRPr sz="1500"/>
            </a:pPr>
            <a:endParaRPr lang="el-GR"/>
          </a:p>
        </c:txPr>
        <c:crossAx val="105679872"/>
        <c:crosses val="autoZero"/>
        <c:auto val="1"/>
        <c:lblAlgn val="ctr"/>
        <c:lblOffset val="100"/>
      </c:catAx>
      <c:valAx>
        <c:axId val="105679872"/>
        <c:scaling>
          <c:orientation val="minMax"/>
        </c:scaling>
        <c:delete val="1"/>
        <c:axPos val="l"/>
        <c:numFmt formatCode="###0.0%" sourceLinked="1"/>
        <c:tickLblPos val="none"/>
        <c:crossAx val="105678336"/>
        <c:crosses val="autoZero"/>
        <c:crossBetween val="between"/>
      </c:valAx>
    </c:plotArea>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500"/>
                </a:pPr>
                <a:endParaRPr lang="el-GR"/>
              </a:p>
            </c:txPr>
            <c:showVal val="1"/>
          </c:dLbls>
          <c:cat>
            <c:strRef>
              <c:f>Φύλλο8!$A$1:$A$5</c:f>
              <c:strCache>
                <c:ptCount val="5"/>
                <c:pt idx="0">
                  <c:v>Προτάθηκε από φίλο</c:v>
                </c:pt>
                <c:pt idx="1">
                  <c:v>Λόγω συγκεκριμένου διαγωνιζόμενου</c:v>
                </c:pt>
                <c:pt idx="2">
                  <c:v>Δημοτικότητα των Coach</c:v>
                </c:pt>
                <c:pt idx="3">
                  <c:v>Αξιοκρατική διαδικασία</c:v>
                </c:pt>
                <c:pt idx="4">
                  <c:v>Λόγω του επιπέδου των φωνών</c:v>
                </c:pt>
              </c:strCache>
            </c:strRef>
          </c:cat>
          <c:val>
            <c:numRef>
              <c:f>Φύλλο8!$C$1:$C$5</c:f>
              <c:numCache>
                <c:formatCode>###0.0%</c:formatCode>
                <c:ptCount val="5"/>
                <c:pt idx="0">
                  <c:v>0.1212653778558877</c:v>
                </c:pt>
                <c:pt idx="1">
                  <c:v>8.5237258347978975E-2</c:v>
                </c:pt>
                <c:pt idx="2">
                  <c:v>0.68980667838312804</c:v>
                </c:pt>
                <c:pt idx="3">
                  <c:v>0.5685413005272405</c:v>
                </c:pt>
                <c:pt idx="4">
                  <c:v>0.4745166959578212</c:v>
                </c:pt>
              </c:numCache>
            </c:numRef>
          </c:val>
        </c:ser>
        <c:dLbls>
          <c:showVal val="1"/>
        </c:dLbls>
        <c:overlap val="-25"/>
        <c:axId val="105716352"/>
        <c:axId val="105722240"/>
      </c:barChart>
      <c:catAx>
        <c:axId val="105716352"/>
        <c:scaling>
          <c:orientation val="minMax"/>
        </c:scaling>
        <c:axPos val="b"/>
        <c:majorTickMark val="none"/>
        <c:tickLblPos val="nextTo"/>
        <c:txPr>
          <a:bodyPr/>
          <a:lstStyle/>
          <a:p>
            <a:pPr>
              <a:defRPr sz="1500"/>
            </a:pPr>
            <a:endParaRPr lang="el-GR"/>
          </a:p>
        </c:txPr>
        <c:crossAx val="105722240"/>
        <c:crosses val="autoZero"/>
        <c:auto val="1"/>
        <c:lblAlgn val="ctr"/>
        <c:lblOffset val="100"/>
      </c:catAx>
      <c:valAx>
        <c:axId val="105722240"/>
        <c:scaling>
          <c:orientation val="minMax"/>
        </c:scaling>
        <c:delete val="1"/>
        <c:axPos val="l"/>
        <c:numFmt formatCode="###0.0%" sourceLinked="1"/>
        <c:tickLblPos val="none"/>
        <c:crossAx val="105716352"/>
        <c:crosses val="autoZero"/>
        <c:crossBetween val="between"/>
      </c:valAx>
      <c:spPr>
        <a:noFill/>
        <a:ln w="25400">
          <a:noFill/>
        </a:ln>
      </c:spPr>
    </c:plotArea>
    <c:plotVisOnly val="1"/>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manualLayout>
          <c:layoutTarget val="inner"/>
          <c:xMode val="edge"/>
          <c:yMode val="edge"/>
          <c:x val="0"/>
          <c:y val="1.4761565654817965E-3"/>
          <c:w val="0.96944444444444544"/>
          <c:h val="0.90550752080440877"/>
        </c:manualLayout>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500"/>
                </a:pPr>
                <a:endParaRPr lang="el-GR"/>
              </a:p>
            </c:txPr>
            <c:showVal val="1"/>
          </c:dLbls>
          <c:cat>
            <c:strRef>
              <c:f>Φύλλο2!$A$2:$A$6</c:f>
              <c:strCache>
                <c:ptCount val="5"/>
                <c:pt idx="0">
                  <c:v>Φωνή</c:v>
                </c:pt>
                <c:pt idx="1">
                  <c:v>Σκηνική παρουσία</c:v>
                </c:pt>
                <c:pt idx="2">
                  <c:v>Δημοτικότητα Coach</c:v>
                </c:pt>
                <c:pt idx="3">
                  <c:v>Καταγωγή διαγωνιζομένου</c:v>
                </c:pt>
                <c:pt idx="4">
                  <c:v>Δημοτικότητα τραγουδιού</c:v>
                </c:pt>
              </c:strCache>
            </c:strRef>
          </c:cat>
          <c:val>
            <c:numRef>
              <c:f>Φύλλο2!$B$2:$B$6</c:f>
              <c:numCache>
                <c:formatCode>###0.0%</c:formatCode>
                <c:ptCount val="5"/>
                <c:pt idx="0">
                  <c:v>0.96270396270396252</c:v>
                </c:pt>
                <c:pt idx="1">
                  <c:v>0.24941724941725021</c:v>
                </c:pt>
                <c:pt idx="2">
                  <c:v>0.7249417249417256</c:v>
                </c:pt>
                <c:pt idx="3">
                  <c:v>8.1585081585081667E-2</c:v>
                </c:pt>
                <c:pt idx="4">
                  <c:v>0.1701631701631702</c:v>
                </c:pt>
              </c:numCache>
            </c:numRef>
          </c:val>
        </c:ser>
        <c:dLbls>
          <c:showVal val="1"/>
        </c:dLbls>
        <c:overlap val="-25"/>
        <c:axId val="105746432"/>
        <c:axId val="105747968"/>
      </c:barChart>
      <c:catAx>
        <c:axId val="105746432"/>
        <c:scaling>
          <c:orientation val="minMax"/>
        </c:scaling>
        <c:axPos val="b"/>
        <c:majorTickMark val="none"/>
        <c:tickLblPos val="nextTo"/>
        <c:txPr>
          <a:bodyPr/>
          <a:lstStyle/>
          <a:p>
            <a:pPr>
              <a:defRPr sz="1500"/>
            </a:pPr>
            <a:endParaRPr lang="el-GR"/>
          </a:p>
        </c:txPr>
        <c:crossAx val="105747968"/>
        <c:crosses val="autoZero"/>
        <c:auto val="1"/>
        <c:lblAlgn val="ctr"/>
        <c:lblOffset val="100"/>
      </c:catAx>
      <c:valAx>
        <c:axId val="105747968"/>
        <c:scaling>
          <c:orientation val="minMax"/>
        </c:scaling>
        <c:delete val="1"/>
        <c:axPos val="l"/>
        <c:numFmt formatCode="###0.0%" sourceLinked="1"/>
        <c:tickLblPos val="none"/>
        <c:crossAx val="105746432"/>
        <c:crosses val="autoZero"/>
        <c:crossBetween val="between"/>
      </c:valAx>
    </c:plotArea>
    <c:plotVisOnly val="1"/>
  </c:chart>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dLbls>
          <c:showVal val="1"/>
        </c:dLbls>
        <c:overlap val="-25"/>
        <c:axId val="105753216"/>
        <c:axId val="105767296"/>
      </c:barChart>
      <c:catAx>
        <c:axId val="105753216"/>
        <c:scaling>
          <c:orientation val="minMax"/>
        </c:scaling>
        <c:axPos val="b"/>
        <c:majorTickMark val="none"/>
        <c:tickLblPos val="nextTo"/>
        <c:crossAx val="105767296"/>
        <c:crosses val="autoZero"/>
        <c:auto val="1"/>
        <c:lblAlgn val="ctr"/>
        <c:lblOffset val="100"/>
      </c:catAx>
      <c:valAx>
        <c:axId val="105767296"/>
        <c:scaling>
          <c:orientation val="minMax"/>
        </c:scaling>
        <c:delete val="1"/>
        <c:axPos val="l"/>
        <c:numFmt formatCode="###0.0" sourceLinked="1"/>
        <c:tickLblPos val="none"/>
        <c:crossAx val="105753216"/>
        <c:crosses val="autoZero"/>
        <c:crossBetween val="between"/>
      </c:valAx>
    </c:plotArea>
    <c:plotVisOnly val="1"/>
  </c:chart>
  <c:externalData r:id="rId1"/>
</c:chartSpace>
</file>

<file path=ppt/charts/chart13.xml><?xml version="1.0" encoding="utf-8"?>
<c:chartSpace xmlns:c="http://schemas.openxmlformats.org/drawingml/2006/chart" xmlns:a="http://schemas.openxmlformats.org/drawingml/2006/main" xmlns:r="http://schemas.openxmlformats.org/officeDocument/2006/relationships">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dLbl>
              <c:idx val="0"/>
              <c:layout/>
              <c:tx>
                <c:rich>
                  <a:bodyPr/>
                  <a:lstStyle/>
                  <a:p>
                    <a:r>
                      <a:rPr lang="en-US" sz="1500" smtClean="0"/>
                      <a:t>4</a:t>
                    </a:r>
                    <a:r>
                      <a:rPr lang="en-US" smtClean="0"/>
                      <a:t>5,2</a:t>
                    </a:r>
                    <a:r>
                      <a:rPr lang="el-GR" smtClean="0"/>
                      <a:t>%</a:t>
                    </a:r>
                    <a:endParaRPr lang="en-US"/>
                  </a:p>
                </c:rich>
              </c:tx>
              <c:showVal val="1"/>
            </c:dLbl>
            <c:dLbl>
              <c:idx val="1"/>
              <c:layout/>
              <c:tx>
                <c:rich>
                  <a:bodyPr/>
                  <a:lstStyle/>
                  <a:p>
                    <a:r>
                      <a:rPr lang="en-US" sz="1500" smtClean="0"/>
                      <a:t>5</a:t>
                    </a:r>
                    <a:r>
                      <a:rPr lang="en-US" smtClean="0"/>
                      <a:t>4,1</a:t>
                    </a:r>
                    <a:r>
                      <a:rPr lang="el-GR" smtClean="0"/>
                      <a:t>%</a:t>
                    </a:r>
                    <a:endParaRPr lang="en-US"/>
                  </a:p>
                </c:rich>
              </c:tx>
              <c:showVal val="1"/>
            </c:dLbl>
            <c:txPr>
              <a:bodyPr/>
              <a:lstStyle/>
              <a:p>
                <a:pPr>
                  <a:defRPr sz="1500"/>
                </a:pPr>
                <a:endParaRPr lang="el-GR"/>
              </a:p>
            </c:txPr>
            <c:showVal val="1"/>
          </c:dLbls>
          <c:cat>
            <c:strRef>
              <c:f>Φύλλο11!$A$1:$A$2</c:f>
              <c:strCache>
                <c:ptCount val="2"/>
                <c:pt idx="0">
                  <c:v>ΝΑΙ</c:v>
                </c:pt>
                <c:pt idx="1">
                  <c:v>ΌΧΙ</c:v>
                </c:pt>
              </c:strCache>
            </c:strRef>
          </c:cat>
          <c:val>
            <c:numRef>
              <c:f>Φύλλο11!$C$1:$C$2</c:f>
              <c:numCache>
                <c:formatCode>###0.0</c:formatCode>
                <c:ptCount val="2"/>
                <c:pt idx="0">
                  <c:v>45.249999999999844</c:v>
                </c:pt>
                <c:pt idx="1">
                  <c:v>54.099999999999888</c:v>
                </c:pt>
              </c:numCache>
            </c:numRef>
          </c:val>
        </c:ser>
        <c:dLbls>
          <c:showVal val="1"/>
        </c:dLbls>
        <c:overlap val="-25"/>
        <c:axId val="107905792"/>
        <c:axId val="107907328"/>
      </c:barChart>
      <c:catAx>
        <c:axId val="107905792"/>
        <c:scaling>
          <c:orientation val="minMax"/>
        </c:scaling>
        <c:axPos val="b"/>
        <c:majorTickMark val="none"/>
        <c:tickLblPos val="nextTo"/>
        <c:crossAx val="107907328"/>
        <c:crosses val="autoZero"/>
        <c:auto val="1"/>
        <c:lblAlgn val="ctr"/>
        <c:lblOffset val="100"/>
      </c:catAx>
      <c:valAx>
        <c:axId val="107907328"/>
        <c:scaling>
          <c:orientation val="minMax"/>
        </c:scaling>
        <c:delete val="1"/>
        <c:axPos val="l"/>
        <c:numFmt formatCode="###0.0" sourceLinked="1"/>
        <c:tickLblPos val="none"/>
        <c:crossAx val="107905792"/>
        <c:crosses val="autoZero"/>
        <c:crossBetween val="between"/>
      </c:valAx>
    </c:plotArea>
    <c:plotVisOnly val="1"/>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Pt>
            <c:idx val="0"/>
            <c:spPr>
              <a:solidFill>
                <a:schemeClr val="tx1"/>
              </a:solidFill>
              <a:scene3d>
                <a:camera prst="orthographicFront"/>
                <a:lightRig rig="balanced" dir="t">
                  <a:rot lat="0" lon="0" rev="8700000"/>
                </a:lightRig>
              </a:scene3d>
              <a:sp3d>
                <a:bevelT w="190500" h="38100"/>
              </a:sp3d>
            </c:spPr>
          </c:dPt>
          <c:dPt>
            <c:idx val="1"/>
            <c:spPr>
              <a:solidFill>
                <a:schemeClr val="tx1"/>
              </a:solidFill>
              <a:scene3d>
                <a:camera prst="orthographicFront"/>
                <a:lightRig rig="balanced" dir="t">
                  <a:rot lat="0" lon="0" rev="8700000"/>
                </a:lightRig>
              </a:scene3d>
              <a:sp3d>
                <a:bevelT w="190500" h="38100"/>
              </a:sp3d>
            </c:spPr>
          </c:dPt>
          <c:dPt>
            <c:idx val="2"/>
            <c:spPr>
              <a:solidFill>
                <a:prstClr val="black"/>
              </a:solidFill>
              <a:scene3d>
                <a:camera prst="orthographicFront"/>
                <a:lightRig rig="balanced" dir="t">
                  <a:rot lat="0" lon="0" rev="8700000"/>
                </a:lightRig>
              </a:scene3d>
              <a:sp3d>
                <a:bevelT w="190500" h="38100"/>
              </a:sp3d>
            </c:spPr>
          </c:dPt>
          <c:dPt>
            <c:idx val="3"/>
            <c:spPr>
              <a:solidFill>
                <a:prstClr val="black"/>
              </a:solidFill>
              <a:scene3d>
                <a:camera prst="orthographicFront"/>
                <a:lightRig rig="balanced" dir="t">
                  <a:rot lat="0" lon="0" rev="8700000"/>
                </a:lightRig>
              </a:scene3d>
              <a:sp3d>
                <a:bevelT w="190500" h="38100"/>
              </a:sp3d>
            </c:spPr>
          </c:dPt>
          <c:dLbls>
            <c:dLbl>
              <c:idx val="0"/>
              <c:layout/>
              <c:tx>
                <c:rich>
                  <a:bodyPr/>
                  <a:lstStyle/>
                  <a:p>
                    <a:r>
                      <a:rPr lang="en-US" sz="1500" smtClean="0"/>
                      <a:t>5</a:t>
                    </a:r>
                    <a:r>
                      <a:rPr lang="en-US" smtClean="0"/>
                      <a:t>4,5</a:t>
                    </a:r>
                    <a:r>
                      <a:rPr lang="el-GR" smtClean="0"/>
                      <a:t>%</a:t>
                    </a:r>
                  </a:p>
                </c:rich>
              </c:tx>
              <c:showVal val="1"/>
            </c:dLbl>
            <c:dLbl>
              <c:idx val="1"/>
              <c:layout/>
              <c:tx>
                <c:rich>
                  <a:bodyPr/>
                  <a:lstStyle/>
                  <a:p>
                    <a:r>
                      <a:rPr lang="en-US" sz="1500" smtClean="0"/>
                      <a:t>4</a:t>
                    </a:r>
                    <a:r>
                      <a:rPr lang="en-US" smtClean="0"/>
                      <a:t>5,5</a:t>
                    </a:r>
                    <a:r>
                      <a:rPr lang="el-GR" smtClean="0"/>
                      <a:t>%</a:t>
                    </a:r>
                    <a:endParaRPr lang="en-US" dirty="0"/>
                  </a:p>
                </c:rich>
              </c:tx>
              <c:showVal val="1"/>
            </c:dLbl>
            <c:dLbl>
              <c:idx val="2"/>
              <c:layout/>
              <c:tx>
                <c:rich>
                  <a:bodyPr/>
                  <a:lstStyle/>
                  <a:p>
                    <a:r>
                      <a:rPr lang="en-US" sz="1500" smtClean="0"/>
                      <a:t>4</a:t>
                    </a:r>
                    <a:r>
                      <a:rPr lang="en-US" smtClean="0"/>
                      <a:t>3,0</a:t>
                    </a:r>
                    <a:r>
                      <a:rPr lang="el-GR" smtClean="0"/>
                      <a:t>%</a:t>
                    </a:r>
                    <a:endParaRPr lang="en-US"/>
                  </a:p>
                </c:rich>
              </c:tx>
              <c:showVal val="1"/>
            </c:dLbl>
            <c:dLbl>
              <c:idx val="3"/>
              <c:layout/>
              <c:tx>
                <c:rich>
                  <a:bodyPr/>
                  <a:lstStyle/>
                  <a:p>
                    <a:r>
                      <a:rPr lang="en-US" sz="1500" smtClean="0"/>
                      <a:t>5</a:t>
                    </a:r>
                    <a:r>
                      <a:rPr lang="en-US" smtClean="0"/>
                      <a:t>7,0</a:t>
                    </a:r>
                    <a:r>
                      <a:rPr lang="el-GR" smtClean="0"/>
                      <a:t>%</a:t>
                    </a:r>
                    <a:endParaRPr lang="en-US"/>
                  </a:p>
                </c:rich>
              </c:tx>
              <c:showVal val="1"/>
            </c:dLbl>
            <c:txPr>
              <a:bodyPr/>
              <a:lstStyle/>
              <a:p>
                <a:pPr>
                  <a:defRPr sz="1500"/>
                </a:pPr>
                <a:endParaRPr lang="el-GR"/>
              </a:p>
            </c:txPr>
            <c:showVal val="1"/>
          </c:dLbls>
          <c:cat>
            <c:strRef>
              <c:f>Φύλλο9!$A$1:$A$4</c:f>
              <c:strCache>
                <c:ptCount val="4"/>
                <c:pt idx="0">
                  <c:v>ΝΑΙ</c:v>
                </c:pt>
                <c:pt idx="1">
                  <c:v>ΌΧΙ</c:v>
                </c:pt>
                <c:pt idx="2">
                  <c:v>ΝΑΙ</c:v>
                </c:pt>
                <c:pt idx="3">
                  <c:v>ΌΧΙ</c:v>
                </c:pt>
              </c:strCache>
            </c:strRef>
          </c:cat>
          <c:val>
            <c:numRef>
              <c:f>Φύλλο9!$B$1:$B$4</c:f>
              <c:numCache>
                <c:formatCode>###0.0</c:formatCode>
                <c:ptCount val="4"/>
                <c:pt idx="0">
                  <c:v>54.524886877828045</c:v>
                </c:pt>
                <c:pt idx="1">
                  <c:v>45.475113122171997</c:v>
                </c:pt>
                <c:pt idx="2">
                  <c:v>42.97734627831715</c:v>
                </c:pt>
                <c:pt idx="3">
                  <c:v>57.022653721682829</c:v>
                </c:pt>
              </c:numCache>
            </c:numRef>
          </c:val>
        </c:ser>
        <c:dLbls>
          <c:showVal val="1"/>
        </c:dLbls>
        <c:overlap val="-25"/>
        <c:axId val="108023168"/>
        <c:axId val="108024960"/>
      </c:barChart>
      <c:catAx>
        <c:axId val="108023168"/>
        <c:scaling>
          <c:orientation val="minMax"/>
        </c:scaling>
        <c:axPos val="b"/>
        <c:majorTickMark val="none"/>
        <c:tickLblPos val="nextTo"/>
        <c:txPr>
          <a:bodyPr/>
          <a:lstStyle/>
          <a:p>
            <a:pPr>
              <a:defRPr sz="1500"/>
            </a:pPr>
            <a:endParaRPr lang="el-GR"/>
          </a:p>
        </c:txPr>
        <c:crossAx val="108024960"/>
        <c:crosses val="autoZero"/>
        <c:auto val="1"/>
        <c:lblAlgn val="ctr"/>
        <c:lblOffset val="100"/>
      </c:catAx>
      <c:valAx>
        <c:axId val="108024960"/>
        <c:scaling>
          <c:orientation val="minMax"/>
        </c:scaling>
        <c:delete val="1"/>
        <c:axPos val="l"/>
        <c:numFmt formatCode="###0.0" sourceLinked="1"/>
        <c:tickLblPos val="none"/>
        <c:crossAx val="108023168"/>
        <c:crosses val="autoZero"/>
        <c:crossBetween val="between"/>
      </c:valAx>
    </c:plotArea>
    <c:plotVisOnly val="1"/>
  </c:chart>
  <c:externalData r:id="rId1"/>
</c:chartSpace>
</file>

<file path=ppt/charts/chart15.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200"/>
                </a:pPr>
                <a:endParaRPr lang="el-GR"/>
              </a:p>
            </c:txPr>
            <c:showVal val="1"/>
          </c:dLbls>
          <c:cat>
            <c:strRef>
              <c:f>Φύλλο10!$A$2:$A$10</c:f>
              <c:strCache>
                <c:ptCount val="9"/>
                <c:pt idx="0">
                  <c:v>Disco-Pop</c:v>
                </c:pt>
                <c:pt idx="1">
                  <c:v>Παραδοσιακή-Δημοτική</c:v>
                </c:pt>
                <c:pt idx="2">
                  <c:v>Κλασσική</c:v>
                </c:pt>
                <c:pt idx="3">
                  <c:v>House-Trance-Electric</c:v>
                </c:pt>
                <c:pt idx="4">
                  <c:v>RnB-HipHop</c:v>
                </c:pt>
                <c:pt idx="5">
                  <c:v>Rock-Metal</c:v>
                </c:pt>
                <c:pt idx="6">
                  <c:v>Jazz-Blues</c:v>
                </c:pt>
                <c:pt idx="7">
                  <c:v>Λαϊκά</c:v>
                </c:pt>
                <c:pt idx="8">
                  <c:v>Έντεχνα</c:v>
                </c:pt>
              </c:strCache>
            </c:strRef>
          </c:cat>
          <c:val>
            <c:numRef>
              <c:f>Φύλλο10!$D$2:$D$10</c:f>
              <c:numCache>
                <c:formatCode>###0.0%</c:formatCode>
                <c:ptCount val="9"/>
                <c:pt idx="0">
                  <c:v>0.32118451025057043</c:v>
                </c:pt>
                <c:pt idx="1">
                  <c:v>0.3519362186788163</c:v>
                </c:pt>
                <c:pt idx="2">
                  <c:v>0.27334851936218757</c:v>
                </c:pt>
                <c:pt idx="3">
                  <c:v>0.12642369020501165</c:v>
                </c:pt>
                <c:pt idx="4">
                  <c:v>0.1366742596810937</c:v>
                </c:pt>
                <c:pt idx="5">
                  <c:v>0.45558086560364597</c:v>
                </c:pt>
                <c:pt idx="6">
                  <c:v>0.36218678815489869</c:v>
                </c:pt>
                <c:pt idx="7">
                  <c:v>0.51936218678815527</c:v>
                </c:pt>
                <c:pt idx="8">
                  <c:v>0.65034168564920392</c:v>
                </c:pt>
              </c:numCache>
            </c:numRef>
          </c:val>
        </c:ser>
        <c:dLbls>
          <c:showVal val="1"/>
        </c:dLbls>
        <c:overlap val="-25"/>
        <c:axId val="108053248"/>
        <c:axId val="108054784"/>
      </c:barChart>
      <c:catAx>
        <c:axId val="108053248"/>
        <c:scaling>
          <c:orientation val="minMax"/>
        </c:scaling>
        <c:axPos val="b"/>
        <c:majorTickMark val="none"/>
        <c:tickLblPos val="nextTo"/>
        <c:txPr>
          <a:bodyPr/>
          <a:lstStyle/>
          <a:p>
            <a:pPr>
              <a:defRPr sz="1500"/>
            </a:pPr>
            <a:endParaRPr lang="el-GR"/>
          </a:p>
        </c:txPr>
        <c:crossAx val="108054784"/>
        <c:crosses val="autoZero"/>
        <c:auto val="1"/>
        <c:lblAlgn val="ctr"/>
        <c:lblOffset val="100"/>
      </c:catAx>
      <c:valAx>
        <c:axId val="108054784"/>
        <c:scaling>
          <c:orientation val="minMax"/>
        </c:scaling>
        <c:delete val="1"/>
        <c:axPos val="l"/>
        <c:numFmt formatCode="###0.0%" sourceLinked="1"/>
        <c:tickLblPos val="none"/>
        <c:crossAx val="108053248"/>
        <c:crosses val="autoZero"/>
        <c:crossBetween val="between"/>
      </c:valAx>
    </c:plotArea>
    <c:plotVisOnly val="1"/>
  </c:chart>
  <c:externalData r:id="rId1"/>
</c:chartSpace>
</file>

<file path=ppt/charts/chart16.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500"/>
                </a:pPr>
                <a:endParaRPr lang="el-GR"/>
              </a:p>
            </c:txPr>
            <c:showVal val="1"/>
          </c:dLbls>
          <c:cat>
            <c:strRef>
              <c:f>Φύλλο6!$A$2:$A$3</c:f>
              <c:strCache>
                <c:ptCount val="2"/>
                <c:pt idx="0">
                  <c:v>ΝΑΙ </c:v>
                </c:pt>
                <c:pt idx="1">
                  <c:v>ΌΧΙ </c:v>
                </c:pt>
              </c:strCache>
            </c:strRef>
          </c:cat>
          <c:val>
            <c:numRef>
              <c:f>Φύλλο6!$B$2:$B$3</c:f>
              <c:numCache>
                <c:formatCode>0.00%</c:formatCode>
                <c:ptCount val="2"/>
                <c:pt idx="0">
                  <c:v>0.41666666666666713</c:v>
                </c:pt>
                <c:pt idx="1">
                  <c:v>0.58333333333333337</c:v>
                </c:pt>
              </c:numCache>
            </c:numRef>
          </c:val>
        </c:ser>
        <c:dLbls>
          <c:showVal val="1"/>
        </c:dLbls>
        <c:overlap val="-25"/>
        <c:axId val="104810368"/>
        <c:axId val="104811904"/>
      </c:barChart>
      <c:catAx>
        <c:axId val="104810368"/>
        <c:scaling>
          <c:orientation val="minMax"/>
        </c:scaling>
        <c:axPos val="b"/>
        <c:majorTickMark val="none"/>
        <c:tickLblPos val="nextTo"/>
        <c:txPr>
          <a:bodyPr/>
          <a:lstStyle/>
          <a:p>
            <a:pPr>
              <a:defRPr sz="1200"/>
            </a:pPr>
            <a:endParaRPr lang="el-GR"/>
          </a:p>
        </c:txPr>
        <c:crossAx val="104811904"/>
        <c:crosses val="autoZero"/>
        <c:auto val="1"/>
        <c:lblAlgn val="ctr"/>
        <c:lblOffset val="100"/>
      </c:catAx>
      <c:valAx>
        <c:axId val="104811904"/>
        <c:scaling>
          <c:orientation val="minMax"/>
        </c:scaling>
        <c:delete val="1"/>
        <c:axPos val="l"/>
        <c:numFmt formatCode="0.00%" sourceLinked="1"/>
        <c:tickLblPos val="none"/>
        <c:crossAx val="104810368"/>
        <c:crosses val="autoZero"/>
        <c:crossBetween val="between"/>
      </c:valAx>
    </c:plotArea>
    <c:plotVisOnly val="1"/>
  </c:chart>
  <c:externalData r:id="rId1"/>
</c:chartSpace>
</file>

<file path=ppt/charts/chart17.xml><?xml version="1.0" encoding="utf-8"?>
<c:chartSpace xmlns:c="http://schemas.openxmlformats.org/drawingml/2006/chart" xmlns:a="http://schemas.openxmlformats.org/drawingml/2006/main" xmlns:r="http://schemas.openxmlformats.org/officeDocument/2006/relationships">
  <c:date1904 val="1"/>
  <c:lang val="el-GR"/>
  <c:style val="30"/>
  <c:chart>
    <c:autoTitleDeleted val="1"/>
    <c:plotArea>
      <c:layout>
        <c:manualLayout>
          <c:layoutTarget val="inner"/>
          <c:xMode val="edge"/>
          <c:yMode val="edge"/>
          <c:x val="3.1044499634666017E-2"/>
          <c:y val="3.4036179215954566E-2"/>
          <c:w val="0.93791100073066791"/>
          <c:h val="0.84458378893573216"/>
        </c:manualLayout>
      </c:layout>
      <c:barChart>
        <c:barDir val="col"/>
        <c:grouping val="clustered"/>
        <c:ser>
          <c:idx val="0"/>
          <c:order val="0"/>
          <c:spPr>
            <a:scene3d>
              <a:camera prst="orthographicFront"/>
              <a:lightRig rig="balanced" dir="t">
                <a:rot lat="0" lon="0" rev="8700000"/>
              </a:lightRig>
            </a:scene3d>
            <a:sp3d>
              <a:bevelT w="190500" h="38100"/>
            </a:sp3d>
          </c:spPr>
          <c:dLbls>
            <c:txPr>
              <a:bodyPr/>
              <a:lstStyle/>
              <a:p>
                <a:pPr>
                  <a:defRPr sz="1500"/>
                </a:pPr>
                <a:endParaRPr lang="el-GR"/>
              </a:p>
            </c:txPr>
            <c:showVal val="1"/>
          </c:dLbls>
          <c:cat>
            <c:strRef>
              <c:f>Φύλλο1!$A$2:$A$3</c:f>
              <c:strCache>
                <c:ptCount val="2"/>
                <c:pt idx="0">
                  <c:v>ΝΑΙ</c:v>
                </c:pt>
                <c:pt idx="1">
                  <c:v>ΌΧΙ</c:v>
                </c:pt>
              </c:strCache>
            </c:strRef>
          </c:cat>
          <c:val>
            <c:numRef>
              <c:f>Φύλλο1!$B$2:$B$3</c:f>
              <c:numCache>
                <c:formatCode>0.00%</c:formatCode>
                <c:ptCount val="2"/>
                <c:pt idx="0">
                  <c:v>0.59</c:v>
                </c:pt>
                <c:pt idx="1">
                  <c:v>0.41000000000000003</c:v>
                </c:pt>
              </c:numCache>
            </c:numRef>
          </c:val>
        </c:ser>
        <c:dLbls>
          <c:showVal val="1"/>
        </c:dLbls>
        <c:overlap val="-25"/>
        <c:axId val="107937792"/>
        <c:axId val="107939328"/>
      </c:barChart>
      <c:catAx>
        <c:axId val="107937792"/>
        <c:scaling>
          <c:orientation val="minMax"/>
        </c:scaling>
        <c:axPos val="b"/>
        <c:majorTickMark val="none"/>
        <c:tickLblPos val="nextTo"/>
        <c:txPr>
          <a:bodyPr/>
          <a:lstStyle/>
          <a:p>
            <a:pPr>
              <a:defRPr sz="1200"/>
            </a:pPr>
            <a:endParaRPr lang="el-GR"/>
          </a:p>
        </c:txPr>
        <c:crossAx val="107939328"/>
        <c:crosses val="autoZero"/>
        <c:auto val="1"/>
        <c:lblAlgn val="ctr"/>
        <c:lblOffset val="100"/>
      </c:catAx>
      <c:valAx>
        <c:axId val="107939328"/>
        <c:scaling>
          <c:orientation val="minMax"/>
        </c:scaling>
        <c:delete val="1"/>
        <c:axPos val="l"/>
        <c:numFmt formatCode="0.00%" sourceLinked="1"/>
        <c:tickLblPos val="none"/>
        <c:crossAx val="107937792"/>
        <c:crosses val="autoZero"/>
        <c:crossBetween val="between"/>
      </c:valAx>
    </c:plotArea>
    <c:plotVisOnly val="1"/>
  </c:chart>
  <c:externalData r:id="rId1"/>
</c:chartSpace>
</file>

<file path=ppt/charts/chart18.xml><?xml version="1.0" encoding="utf-8"?>
<c:chartSpace xmlns:c="http://schemas.openxmlformats.org/drawingml/2006/chart" xmlns:a="http://schemas.openxmlformats.org/drawingml/2006/main" xmlns:r="http://schemas.openxmlformats.org/officeDocument/2006/relationships">
  <c:date1904 val="1"/>
  <c:lang val="el-GR"/>
  <c:chart>
    <c:autoTitleDeleted val="1"/>
    <c:plotArea>
      <c:layout/>
      <c:barChart>
        <c:barDir val="col"/>
        <c:grouping val="clustered"/>
        <c:ser>
          <c:idx val="0"/>
          <c:order val="0"/>
          <c:tx>
            <c:strRef>
              <c:f>Φύλλο3!$C$4</c:f>
              <c:strCache>
                <c:ptCount val="1"/>
                <c:pt idx="0">
                  <c:v>Ναι</c:v>
                </c:pt>
              </c:strCache>
            </c:strRef>
          </c:tx>
          <c:spPr>
            <a:solidFill>
              <a:schemeClr val="accent5">
                <a:lumMod val="40000"/>
                <a:lumOff val="60000"/>
              </a:schemeClr>
            </a:solidFill>
            <a:scene3d>
              <a:camera prst="orthographicFront"/>
              <a:lightRig rig="threePt" dir="t"/>
            </a:scene3d>
            <a:sp3d>
              <a:bevelT w="190500" h="38100"/>
            </a:sp3d>
          </c:spPr>
          <c:dLbls>
            <c:txPr>
              <a:bodyPr/>
              <a:lstStyle/>
              <a:p>
                <a:pPr>
                  <a:defRPr sz="1500"/>
                </a:pPr>
                <a:endParaRPr lang="el-GR"/>
              </a:p>
            </c:txPr>
            <c:showVal val="1"/>
          </c:dLbls>
          <c:cat>
            <c:strRef>
              <c:f>Φύλλο3!$B$5:$B$7</c:f>
              <c:strCache>
                <c:ptCount val="3"/>
                <c:pt idx="0">
                  <c:v>Λίγο </c:v>
                </c:pt>
                <c:pt idx="1">
                  <c:v>Μέτρια</c:v>
                </c:pt>
                <c:pt idx="2">
                  <c:v>Πολύ</c:v>
                </c:pt>
              </c:strCache>
            </c:strRef>
          </c:cat>
          <c:val>
            <c:numRef>
              <c:f>Φύλλο3!$C$5:$C$7</c:f>
              <c:numCache>
                <c:formatCode>0.00%</c:formatCode>
                <c:ptCount val="3"/>
                <c:pt idx="0" formatCode="0%">
                  <c:v>0.38000000000000017</c:v>
                </c:pt>
                <c:pt idx="1">
                  <c:v>0.41270000000000001</c:v>
                </c:pt>
                <c:pt idx="2">
                  <c:v>0.57809999999999995</c:v>
                </c:pt>
              </c:numCache>
            </c:numRef>
          </c:val>
        </c:ser>
        <c:ser>
          <c:idx val="1"/>
          <c:order val="1"/>
          <c:tx>
            <c:strRef>
              <c:f>Φύλλο3!$D$4</c:f>
              <c:strCache>
                <c:ptCount val="1"/>
                <c:pt idx="0">
                  <c:v>Όχι</c:v>
                </c:pt>
              </c:strCache>
            </c:strRef>
          </c:tx>
          <c:spPr>
            <a:solidFill>
              <a:schemeClr val="accent4">
                <a:lumMod val="50000"/>
              </a:schemeClr>
            </a:solidFill>
            <a:scene3d>
              <a:camera prst="orthographicFront"/>
              <a:lightRig rig="threePt" dir="t"/>
            </a:scene3d>
            <a:sp3d>
              <a:bevelT w="190500" h="38100"/>
            </a:sp3d>
          </c:spPr>
          <c:dLbls>
            <c:txPr>
              <a:bodyPr/>
              <a:lstStyle/>
              <a:p>
                <a:pPr>
                  <a:defRPr sz="1500"/>
                </a:pPr>
                <a:endParaRPr lang="el-GR"/>
              </a:p>
            </c:txPr>
            <c:showVal val="1"/>
          </c:dLbls>
          <c:cat>
            <c:strRef>
              <c:f>Φύλλο3!$B$5:$B$7</c:f>
              <c:strCache>
                <c:ptCount val="3"/>
                <c:pt idx="0">
                  <c:v>Λίγο </c:v>
                </c:pt>
                <c:pt idx="1">
                  <c:v>Μέτρια</c:v>
                </c:pt>
                <c:pt idx="2">
                  <c:v>Πολύ</c:v>
                </c:pt>
              </c:strCache>
            </c:strRef>
          </c:cat>
          <c:val>
            <c:numRef>
              <c:f>Φύλλο3!$D$5:$D$7</c:f>
              <c:numCache>
                <c:formatCode>0.00%</c:formatCode>
                <c:ptCount val="3"/>
                <c:pt idx="0">
                  <c:v>0.61970000000000036</c:v>
                </c:pt>
                <c:pt idx="1">
                  <c:v>0.58729999999999971</c:v>
                </c:pt>
                <c:pt idx="2">
                  <c:v>0.42190000000000016</c:v>
                </c:pt>
              </c:numCache>
            </c:numRef>
          </c:val>
        </c:ser>
        <c:dLbls>
          <c:showVal val="1"/>
        </c:dLbls>
        <c:overlap val="-25"/>
        <c:axId val="107979904"/>
        <c:axId val="107981440"/>
      </c:barChart>
      <c:catAx>
        <c:axId val="107979904"/>
        <c:scaling>
          <c:orientation val="minMax"/>
        </c:scaling>
        <c:axPos val="b"/>
        <c:majorTickMark val="none"/>
        <c:tickLblPos val="nextTo"/>
        <c:txPr>
          <a:bodyPr/>
          <a:lstStyle/>
          <a:p>
            <a:pPr>
              <a:defRPr sz="1500"/>
            </a:pPr>
            <a:endParaRPr lang="el-GR"/>
          </a:p>
        </c:txPr>
        <c:crossAx val="107981440"/>
        <c:crosses val="autoZero"/>
        <c:auto val="1"/>
        <c:lblAlgn val="ctr"/>
        <c:lblOffset val="100"/>
      </c:catAx>
      <c:valAx>
        <c:axId val="107981440"/>
        <c:scaling>
          <c:orientation val="minMax"/>
        </c:scaling>
        <c:delete val="1"/>
        <c:axPos val="l"/>
        <c:numFmt formatCode="0%" sourceLinked="1"/>
        <c:tickLblPos val="none"/>
        <c:crossAx val="107979904"/>
        <c:crosses val="autoZero"/>
        <c:crossBetween val="between"/>
      </c:valAx>
    </c:plotArea>
    <c:legend>
      <c:legendPos val="r"/>
      <c:layout/>
      <c:txPr>
        <a:bodyPr/>
        <a:lstStyle/>
        <a:p>
          <a:pPr>
            <a:defRPr sz="1500"/>
          </a:pPr>
          <a:endParaRPr lang="el-GR"/>
        </a:p>
      </c:txPr>
    </c:legend>
    <c:plotVisOnly val="1"/>
  </c:chart>
  <c:externalData r:id="rId1"/>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181157-7E7F-4745-B20A-892DD81DF352}"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l-GR"/>
        </a:p>
      </dgm:t>
    </dgm:pt>
    <dgm:pt modelId="{07EEE2C4-34E8-408F-9E69-8BE92E5DAE6F}">
      <dgm:prSet phldrT="[Κείμενο]"/>
      <dgm:spPr/>
      <dgm:t>
        <a:bodyPr/>
        <a:lstStyle/>
        <a:p>
          <a:r>
            <a:rPr lang="el-GR" dirty="0" smtClean="0"/>
            <a:t>79% Γυναίκες</a:t>
          </a:r>
          <a:endParaRPr lang="el-GR" dirty="0"/>
        </a:p>
      </dgm:t>
    </dgm:pt>
    <dgm:pt modelId="{C1CC4A98-4D85-4BA1-AB24-AF6B42BB5417}" type="parTrans" cxnId="{480D5FE5-799E-4039-9C7F-7680356C9FEE}">
      <dgm:prSet/>
      <dgm:spPr/>
      <dgm:t>
        <a:bodyPr/>
        <a:lstStyle/>
        <a:p>
          <a:endParaRPr lang="el-GR"/>
        </a:p>
      </dgm:t>
    </dgm:pt>
    <dgm:pt modelId="{3D58AD4D-4247-4BBB-953C-57B68EA2EDD7}" type="sibTrans" cxnId="{480D5FE5-799E-4039-9C7F-7680356C9FEE}">
      <dgm:prSet/>
      <dgm:spPr/>
      <dgm:t>
        <a:bodyPr/>
        <a:lstStyle/>
        <a:p>
          <a:endParaRPr lang="el-GR"/>
        </a:p>
      </dgm:t>
    </dgm:pt>
    <dgm:pt modelId="{E41484DD-9DB1-410B-99AA-288B95237EFA}">
      <dgm:prSet phldrT="[Κείμενο]"/>
      <dgm:spPr/>
      <dgm:t>
        <a:bodyPr/>
        <a:lstStyle/>
        <a:p>
          <a:r>
            <a:rPr lang="el-GR" dirty="0" smtClean="0"/>
            <a:t>21% Άνδρες</a:t>
          </a:r>
          <a:endParaRPr lang="el-GR" dirty="0"/>
        </a:p>
      </dgm:t>
    </dgm:pt>
    <dgm:pt modelId="{0C7B7FB0-A4EE-4E01-9AE5-0CB6CDC35268}" type="parTrans" cxnId="{C2A59848-6D2E-4F2B-932D-F0954E5CF61A}">
      <dgm:prSet/>
      <dgm:spPr/>
      <dgm:t>
        <a:bodyPr/>
        <a:lstStyle/>
        <a:p>
          <a:endParaRPr lang="el-GR"/>
        </a:p>
      </dgm:t>
    </dgm:pt>
    <dgm:pt modelId="{3A827F94-41C5-4C63-822E-4689E3F162D4}" type="sibTrans" cxnId="{C2A59848-6D2E-4F2B-932D-F0954E5CF61A}">
      <dgm:prSet/>
      <dgm:spPr/>
      <dgm:t>
        <a:bodyPr/>
        <a:lstStyle/>
        <a:p>
          <a:endParaRPr lang="el-GR"/>
        </a:p>
      </dgm:t>
    </dgm:pt>
    <dgm:pt modelId="{2836533A-DACE-47B6-BB6C-A2CA866EF112}">
      <dgm:prSet phldrT="[Κείμενο]"/>
      <dgm:spPr/>
      <dgm:t>
        <a:bodyPr/>
        <a:lstStyle/>
        <a:p>
          <a:r>
            <a:rPr lang="el-GR" dirty="0" smtClean="0"/>
            <a:t>78% δεν ψηφίζει </a:t>
          </a:r>
          <a:endParaRPr lang="el-GR" dirty="0"/>
        </a:p>
      </dgm:t>
    </dgm:pt>
    <dgm:pt modelId="{CD3E938E-1A81-4343-A057-E15EB6A0C739}" type="parTrans" cxnId="{239B1B52-1888-44D3-B64B-CA214CEFD936}">
      <dgm:prSet/>
      <dgm:spPr/>
      <dgm:t>
        <a:bodyPr/>
        <a:lstStyle/>
        <a:p>
          <a:endParaRPr lang="el-GR"/>
        </a:p>
      </dgm:t>
    </dgm:pt>
    <dgm:pt modelId="{E6717C74-74A6-4D1E-9E68-9BBD3C3BCADC}" type="sibTrans" cxnId="{239B1B52-1888-44D3-B64B-CA214CEFD936}">
      <dgm:prSet/>
      <dgm:spPr/>
      <dgm:t>
        <a:bodyPr/>
        <a:lstStyle/>
        <a:p>
          <a:endParaRPr lang="el-GR"/>
        </a:p>
      </dgm:t>
    </dgm:pt>
    <dgm:pt modelId="{D42EED01-7698-4ACB-ADA2-E7B3105AF59E}">
      <dgm:prSet phldrT="[Κείμενο]"/>
      <dgm:spPr/>
      <dgm:t>
        <a:bodyPr/>
        <a:lstStyle/>
        <a:p>
          <a:r>
            <a:rPr lang="el-GR" dirty="0" smtClean="0"/>
            <a:t>22% ψηφίζει</a:t>
          </a:r>
          <a:endParaRPr lang="el-GR" dirty="0"/>
        </a:p>
      </dgm:t>
    </dgm:pt>
    <dgm:pt modelId="{0B1D8C31-E4E7-4799-B298-237C467BA3EA}" type="parTrans" cxnId="{CF14502C-621C-458A-A73E-D3352B9D36EF}">
      <dgm:prSet/>
      <dgm:spPr/>
      <dgm:t>
        <a:bodyPr/>
        <a:lstStyle/>
        <a:p>
          <a:endParaRPr lang="el-GR"/>
        </a:p>
      </dgm:t>
    </dgm:pt>
    <dgm:pt modelId="{A7820AFE-0DEA-412C-B418-3F9D28FA75EF}" type="sibTrans" cxnId="{CF14502C-621C-458A-A73E-D3352B9D36EF}">
      <dgm:prSet/>
      <dgm:spPr/>
      <dgm:t>
        <a:bodyPr/>
        <a:lstStyle/>
        <a:p>
          <a:endParaRPr lang="el-GR"/>
        </a:p>
      </dgm:t>
    </dgm:pt>
    <dgm:pt modelId="{C16E3C0E-228C-4CF1-93F0-48AC39B90363}" type="pres">
      <dgm:prSet presAssocID="{96181157-7E7F-4745-B20A-892DD81DF352}" presName="composite" presStyleCnt="0">
        <dgm:presLayoutVars>
          <dgm:chMax val="5"/>
          <dgm:dir/>
          <dgm:animLvl val="ctr"/>
          <dgm:resizeHandles val="exact"/>
        </dgm:presLayoutVars>
      </dgm:prSet>
      <dgm:spPr/>
      <dgm:t>
        <a:bodyPr/>
        <a:lstStyle/>
        <a:p>
          <a:endParaRPr lang="el-GR"/>
        </a:p>
      </dgm:t>
    </dgm:pt>
    <dgm:pt modelId="{94C7EB90-CDF6-4587-8E8D-4FA1B04BD62D}" type="pres">
      <dgm:prSet presAssocID="{96181157-7E7F-4745-B20A-892DD81DF352}" presName="cycle" presStyleCnt="0"/>
      <dgm:spPr/>
    </dgm:pt>
    <dgm:pt modelId="{D9E64345-61A3-45E7-BA9B-CBDB40B8209E}" type="pres">
      <dgm:prSet presAssocID="{96181157-7E7F-4745-B20A-892DD81DF352}" presName="centerShape" presStyleCnt="0"/>
      <dgm:spPr/>
    </dgm:pt>
    <dgm:pt modelId="{B8AA2821-A2D6-49B4-BF9F-EFE342BBCC38}" type="pres">
      <dgm:prSet presAssocID="{96181157-7E7F-4745-B20A-892DD81DF352}" presName="connSite" presStyleLbl="node1" presStyleIdx="0" presStyleCnt="5"/>
      <dgm:spPr/>
    </dgm:pt>
    <dgm:pt modelId="{A37EE9D9-62BE-44D8-9260-68A0E190BFFA}" type="pres">
      <dgm:prSet presAssocID="{96181157-7E7F-4745-B20A-892DD81DF352}" presName="visible" presStyleLbl="node1" presStyleIdx="0" presStyleCnt="5" custLinFactNeighborX="320" custLinFactNeighborY="-4339"/>
      <dgm:spPr/>
    </dgm:pt>
    <dgm:pt modelId="{C6A1CA65-F166-439F-8526-DF3BD2773D4C}" type="pres">
      <dgm:prSet presAssocID="{C1CC4A98-4D85-4BA1-AB24-AF6B42BB5417}" presName="Name25" presStyleLbl="parChTrans1D1" presStyleIdx="0" presStyleCnt="4"/>
      <dgm:spPr/>
      <dgm:t>
        <a:bodyPr/>
        <a:lstStyle/>
        <a:p>
          <a:endParaRPr lang="el-GR"/>
        </a:p>
      </dgm:t>
    </dgm:pt>
    <dgm:pt modelId="{4DF7FE43-0B04-4B93-8AF4-1085C91CDF25}" type="pres">
      <dgm:prSet presAssocID="{07EEE2C4-34E8-408F-9E69-8BE92E5DAE6F}" presName="node" presStyleCnt="0"/>
      <dgm:spPr/>
    </dgm:pt>
    <dgm:pt modelId="{FECC2ED6-0856-4FBB-9A31-BDC4F7D2AF1F}" type="pres">
      <dgm:prSet presAssocID="{07EEE2C4-34E8-408F-9E69-8BE92E5DAE6F}" presName="parentNode" presStyleLbl="node1" presStyleIdx="1" presStyleCnt="5" custScaleX="104741" custLinFactNeighborX="61349" custLinFactNeighborY="22441">
        <dgm:presLayoutVars>
          <dgm:chMax val="1"/>
          <dgm:bulletEnabled val="1"/>
        </dgm:presLayoutVars>
      </dgm:prSet>
      <dgm:spPr/>
      <dgm:t>
        <a:bodyPr/>
        <a:lstStyle/>
        <a:p>
          <a:endParaRPr lang="el-GR"/>
        </a:p>
      </dgm:t>
    </dgm:pt>
    <dgm:pt modelId="{F4FD06E5-EC6A-43BF-A127-932B26C7208F}" type="pres">
      <dgm:prSet presAssocID="{07EEE2C4-34E8-408F-9E69-8BE92E5DAE6F}" presName="childNode" presStyleLbl="revTx" presStyleIdx="0" presStyleCnt="0">
        <dgm:presLayoutVars>
          <dgm:bulletEnabled val="1"/>
        </dgm:presLayoutVars>
      </dgm:prSet>
      <dgm:spPr/>
      <dgm:t>
        <a:bodyPr/>
        <a:lstStyle/>
        <a:p>
          <a:endParaRPr lang="el-GR"/>
        </a:p>
      </dgm:t>
    </dgm:pt>
    <dgm:pt modelId="{80A1A702-3235-4BAD-89E9-6746572FE937}" type="pres">
      <dgm:prSet presAssocID="{0C7B7FB0-A4EE-4E01-9AE5-0CB6CDC35268}" presName="Name25" presStyleLbl="parChTrans1D1" presStyleIdx="1" presStyleCnt="4"/>
      <dgm:spPr/>
      <dgm:t>
        <a:bodyPr/>
        <a:lstStyle/>
        <a:p>
          <a:endParaRPr lang="el-GR"/>
        </a:p>
      </dgm:t>
    </dgm:pt>
    <dgm:pt modelId="{906D4C8F-1BCB-4613-9716-42AED511FC39}" type="pres">
      <dgm:prSet presAssocID="{E41484DD-9DB1-410B-99AA-288B95237EFA}" presName="node" presStyleCnt="0"/>
      <dgm:spPr/>
    </dgm:pt>
    <dgm:pt modelId="{1F5D999E-64C4-4BE5-8671-4F67CBF136FA}" type="pres">
      <dgm:prSet presAssocID="{E41484DD-9DB1-410B-99AA-288B95237EFA}" presName="parentNode" presStyleLbl="node1" presStyleIdx="2" presStyleCnt="5" custLinFactX="40512" custLinFactNeighborX="100000" custLinFactNeighborY="18260">
        <dgm:presLayoutVars>
          <dgm:chMax val="1"/>
          <dgm:bulletEnabled val="1"/>
        </dgm:presLayoutVars>
      </dgm:prSet>
      <dgm:spPr/>
      <dgm:t>
        <a:bodyPr/>
        <a:lstStyle/>
        <a:p>
          <a:endParaRPr lang="el-GR"/>
        </a:p>
      </dgm:t>
    </dgm:pt>
    <dgm:pt modelId="{2D8BEB01-6F59-4898-BEE8-F2145A5C5598}" type="pres">
      <dgm:prSet presAssocID="{E41484DD-9DB1-410B-99AA-288B95237EFA}" presName="childNode" presStyleLbl="revTx" presStyleIdx="0" presStyleCnt="0">
        <dgm:presLayoutVars>
          <dgm:bulletEnabled val="1"/>
        </dgm:presLayoutVars>
      </dgm:prSet>
      <dgm:spPr/>
      <dgm:t>
        <a:bodyPr/>
        <a:lstStyle/>
        <a:p>
          <a:endParaRPr lang="el-GR"/>
        </a:p>
      </dgm:t>
    </dgm:pt>
    <dgm:pt modelId="{E60073BE-9EEA-4732-AE65-71115D5D7631}" type="pres">
      <dgm:prSet presAssocID="{CD3E938E-1A81-4343-A057-E15EB6A0C739}" presName="Name25" presStyleLbl="parChTrans1D1" presStyleIdx="2" presStyleCnt="4"/>
      <dgm:spPr/>
      <dgm:t>
        <a:bodyPr/>
        <a:lstStyle/>
        <a:p>
          <a:endParaRPr lang="el-GR"/>
        </a:p>
      </dgm:t>
    </dgm:pt>
    <dgm:pt modelId="{17484447-FD18-442E-B9D6-363B0B12B70E}" type="pres">
      <dgm:prSet presAssocID="{2836533A-DACE-47B6-BB6C-A2CA866EF112}" presName="node" presStyleCnt="0"/>
      <dgm:spPr/>
    </dgm:pt>
    <dgm:pt modelId="{EABB8EEB-4C9C-422C-B13D-E43A306AD800}" type="pres">
      <dgm:prSet presAssocID="{2836533A-DACE-47B6-BB6C-A2CA866EF112}" presName="parentNode" presStyleLbl="node1" presStyleIdx="3" presStyleCnt="5" custLinFactX="50286" custLinFactNeighborX="100000" custLinFactNeighborY="45671">
        <dgm:presLayoutVars>
          <dgm:chMax val="1"/>
          <dgm:bulletEnabled val="1"/>
        </dgm:presLayoutVars>
      </dgm:prSet>
      <dgm:spPr/>
      <dgm:t>
        <a:bodyPr/>
        <a:lstStyle/>
        <a:p>
          <a:endParaRPr lang="el-GR"/>
        </a:p>
      </dgm:t>
    </dgm:pt>
    <dgm:pt modelId="{67C0B77B-FE99-4E23-AD13-683B285265D2}" type="pres">
      <dgm:prSet presAssocID="{2836533A-DACE-47B6-BB6C-A2CA866EF112}" presName="childNode" presStyleLbl="revTx" presStyleIdx="0" presStyleCnt="0">
        <dgm:presLayoutVars>
          <dgm:bulletEnabled val="1"/>
        </dgm:presLayoutVars>
      </dgm:prSet>
      <dgm:spPr/>
      <dgm:t>
        <a:bodyPr/>
        <a:lstStyle/>
        <a:p>
          <a:endParaRPr lang="el-GR"/>
        </a:p>
      </dgm:t>
    </dgm:pt>
    <dgm:pt modelId="{89C9C78B-A0BA-4E61-A74E-BB6E6FE5FA91}" type="pres">
      <dgm:prSet presAssocID="{0B1D8C31-E4E7-4799-B298-237C467BA3EA}" presName="Name25" presStyleLbl="parChTrans1D1" presStyleIdx="3" presStyleCnt="4"/>
      <dgm:spPr/>
      <dgm:t>
        <a:bodyPr/>
        <a:lstStyle/>
        <a:p>
          <a:endParaRPr lang="el-GR"/>
        </a:p>
      </dgm:t>
    </dgm:pt>
    <dgm:pt modelId="{6B317127-A3C0-4571-B3DD-3885C261D60F}" type="pres">
      <dgm:prSet presAssocID="{D42EED01-7698-4ACB-ADA2-E7B3105AF59E}" presName="node" presStyleCnt="0"/>
      <dgm:spPr/>
    </dgm:pt>
    <dgm:pt modelId="{E9B27243-5134-469A-8898-D8FBD9FC064D}" type="pres">
      <dgm:prSet presAssocID="{D42EED01-7698-4ACB-ADA2-E7B3105AF59E}" presName="parentNode" presStyleLbl="node1" presStyleIdx="4" presStyleCnt="5" custLinFactNeighborX="58386" custLinFactNeighborY="-12270">
        <dgm:presLayoutVars>
          <dgm:chMax val="1"/>
          <dgm:bulletEnabled val="1"/>
        </dgm:presLayoutVars>
      </dgm:prSet>
      <dgm:spPr/>
      <dgm:t>
        <a:bodyPr/>
        <a:lstStyle/>
        <a:p>
          <a:endParaRPr lang="el-GR"/>
        </a:p>
      </dgm:t>
    </dgm:pt>
    <dgm:pt modelId="{07C7BBEB-8EE1-44A5-8E39-A088D6D55387}" type="pres">
      <dgm:prSet presAssocID="{D42EED01-7698-4ACB-ADA2-E7B3105AF59E}" presName="childNode" presStyleLbl="revTx" presStyleIdx="0" presStyleCnt="0">
        <dgm:presLayoutVars>
          <dgm:bulletEnabled val="1"/>
        </dgm:presLayoutVars>
      </dgm:prSet>
      <dgm:spPr/>
      <dgm:t>
        <a:bodyPr/>
        <a:lstStyle/>
        <a:p>
          <a:endParaRPr lang="el-GR"/>
        </a:p>
      </dgm:t>
    </dgm:pt>
  </dgm:ptLst>
  <dgm:cxnLst>
    <dgm:cxn modelId="{995D1FCA-8BC5-40D5-8822-7EDCC78E73A7}" type="presOf" srcId="{07EEE2C4-34E8-408F-9E69-8BE92E5DAE6F}" destId="{FECC2ED6-0856-4FBB-9A31-BDC4F7D2AF1F}" srcOrd="0" destOrd="0" presId="urn:microsoft.com/office/officeart/2005/8/layout/radial2"/>
    <dgm:cxn modelId="{CE420D6A-E0F2-49D1-9DCA-F60E41427E3A}" type="presOf" srcId="{C1CC4A98-4D85-4BA1-AB24-AF6B42BB5417}" destId="{C6A1CA65-F166-439F-8526-DF3BD2773D4C}" srcOrd="0" destOrd="0" presId="urn:microsoft.com/office/officeart/2005/8/layout/radial2"/>
    <dgm:cxn modelId="{CF14502C-621C-458A-A73E-D3352B9D36EF}" srcId="{96181157-7E7F-4745-B20A-892DD81DF352}" destId="{D42EED01-7698-4ACB-ADA2-E7B3105AF59E}" srcOrd="3" destOrd="0" parTransId="{0B1D8C31-E4E7-4799-B298-237C467BA3EA}" sibTransId="{A7820AFE-0DEA-412C-B418-3F9D28FA75EF}"/>
    <dgm:cxn modelId="{239B1B52-1888-44D3-B64B-CA214CEFD936}" srcId="{96181157-7E7F-4745-B20A-892DD81DF352}" destId="{2836533A-DACE-47B6-BB6C-A2CA866EF112}" srcOrd="2" destOrd="0" parTransId="{CD3E938E-1A81-4343-A057-E15EB6A0C739}" sibTransId="{E6717C74-74A6-4D1E-9E68-9BBD3C3BCADC}"/>
    <dgm:cxn modelId="{480D5FE5-799E-4039-9C7F-7680356C9FEE}" srcId="{96181157-7E7F-4745-B20A-892DD81DF352}" destId="{07EEE2C4-34E8-408F-9E69-8BE92E5DAE6F}" srcOrd="0" destOrd="0" parTransId="{C1CC4A98-4D85-4BA1-AB24-AF6B42BB5417}" sibTransId="{3D58AD4D-4247-4BBB-953C-57B68EA2EDD7}"/>
    <dgm:cxn modelId="{FD28E65A-8A80-4749-B2EE-8633BB78DD32}" type="presOf" srcId="{0C7B7FB0-A4EE-4E01-9AE5-0CB6CDC35268}" destId="{80A1A702-3235-4BAD-89E9-6746572FE937}" srcOrd="0" destOrd="0" presId="urn:microsoft.com/office/officeart/2005/8/layout/radial2"/>
    <dgm:cxn modelId="{64051D89-B67A-49A9-AD99-CA0C4CA17E1A}" type="presOf" srcId="{2836533A-DACE-47B6-BB6C-A2CA866EF112}" destId="{EABB8EEB-4C9C-422C-B13D-E43A306AD800}" srcOrd="0" destOrd="0" presId="urn:microsoft.com/office/officeart/2005/8/layout/radial2"/>
    <dgm:cxn modelId="{A90BC6BB-7CDC-4443-84A7-81D34D60B24A}" type="presOf" srcId="{E41484DD-9DB1-410B-99AA-288B95237EFA}" destId="{1F5D999E-64C4-4BE5-8671-4F67CBF136FA}" srcOrd="0" destOrd="0" presId="urn:microsoft.com/office/officeart/2005/8/layout/radial2"/>
    <dgm:cxn modelId="{7FB86CA2-FE88-4DAB-9B38-E544168A1936}" type="presOf" srcId="{0B1D8C31-E4E7-4799-B298-237C467BA3EA}" destId="{89C9C78B-A0BA-4E61-A74E-BB6E6FE5FA91}" srcOrd="0" destOrd="0" presId="urn:microsoft.com/office/officeart/2005/8/layout/radial2"/>
    <dgm:cxn modelId="{0C6788C2-42EA-476A-9D03-B92EDE0F9783}" type="presOf" srcId="{96181157-7E7F-4745-B20A-892DD81DF352}" destId="{C16E3C0E-228C-4CF1-93F0-48AC39B90363}" srcOrd="0" destOrd="0" presId="urn:microsoft.com/office/officeart/2005/8/layout/radial2"/>
    <dgm:cxn modelId="{D10D8398-2E28-49DA-B5C9-4334CDF55CC6}" type="presOf" srcId="{D42EED01-7698-4ACB-ADA2-E7B3105AF59E}" destId="{E9B27243-5134-469A-8898-D8FBD9FC064D}" srcOrd="0" destOrd="0" presId="urn:microsoft.com/office/officeart/2005/8/layout/radial2"/>
    <dgm:cxn modelId="{C2A59848-6D2E-4F2B-932D-F0954E5CF61A}" srcId="{96181157-7E7F-4745-B20A-892DD81DF352}" destId="{E41484DD-9DB1-410B-99AA-288B95237EFA}" srcOrd="1" destOrd="0" parTransId="{0C7B7FB0-A4EE-4E01-9AE5-0CB6CDC35268}" sibTransId="{3A827F94-41C5-4C63-822E-4689E3F162D4}"/>
    <dgm:cxn modelId="{5972E50E-F4E0-46F6-B35B-845D436D4DA7}" type="presOf" srcId="{CD3E938E-1A81-4343-A057-E15EB6A0C739}" destId="{E60073BE-9EEA-4732-AE65-71115D5D7631}" srcOrd="0" destOrd="0" presId="urn:microsoft.com/office/officeart/2005/8/layout/radial2"/>
    <dgm:cxn modelId="{0A076C1F-41EA-4B71-9EFE-5C82FBC2D4D0}" type="presParOf" srcId="{C16E3C0E-228C-4CF1-93F0-48AC39B90363}" destId="{94C7EB90-CDF6-4587-8E8D-4FA1B04BD62D}" srcOrd="0" destOrd="0" presId="urn:microsoft.com/office/officeart/2005/8/layout/radial2"/>
    <dgm:cxn modelId="{A1469043-07C7-4A3B-A3C6-30FF86C31949}" type="presParOf" srcId="{94C7EB90-CDF6-4587-8E8D-4FA1B04BD62D}" destId="{D9E64345-61A3-45E7-BA9B-CBDB40B8209E}" srcOrd="0" destOrd="0" presId="urn:microsoft.com/office/officeart/2005/8/layout/radial2"/>
    <dgm:cxn modelId="{F11CEC4F-EA14-4749-9DA1-AEA4D1F0C379}" type="presParOf" srcId="{D9E64345-61A3-45E7-BA9B-CBDB40B8209E}" destId="{B8AA2821-A2D6-49B4-BF9F-EFE342BBCC38}" srcOrd="0" destOrd="0" presId="urn:microsoft.com/office/officeart/2005/8/layout/radial2"/>
    <dgm:cxn modelId="{D68C9286-DCD0-40CA-A5B7-3274F84BE199}" type="presParOf" srcId="{D9E64345-61A3-45E7-BA9B-CBDB40B8209E}" destId="{A37EE9D9-62BE-44D8-9260-68A0E190BFFA}" srcOrd="1" destOrd="0" presId="urn:microsoft.com/office/officeart/2005/8/layout/radial2"/>
    <dgm:cxn modelId="{9CC87A47-D2D8-407B-913A-AE3BACA2A65C}" type="presParOf" srcId="{94C7EB90-CDF6-4587-8E8D-4FA1B04BD62D}" destId="{C6A1CA65-F166-439F-8526-DF3BD2773D4C}" srcOrd="1" destOrd="0" presId="urn:microsoft.com/office/officeart/2005/8/layout/radial2"/>
    <dgm:cxn modelId="{80E51085-CC82-4414-8768-649D9FB73539}" type="presParOf" srcId="{94C7EB90-CDF6-4587-8E8D-4FA1B04BD62D}" destId="{4DF7FE43-0B04-4B93-8AF4-1085C91CDF25}" srcOrd="2" destOrd="0" presId="urn:microsoft.com/office/officeart/2005/8/layout/radial2"/>
    <dgm:cxn modelId="{DE64A7B3-4F90-46F4-A38A-B2FC0F1BBFFB}" type="presParOf" srcId="{4DF7FE43-0B04-4B93-8AF4-1085C91CDF25}" destId="{FECC2ED6-0856-4FBB-9A31-BDC4F7D2AF1F}" srcOrd="0" destOrd="0" presId="urn:microsoft.com/office/officeart/2005/8/layout/radial2"/>
    <dgm:cxn modelId="{2C3DE725-3280-4702-8000-D44D84E3865D}" type="presParOf" srcId="{4DF7FE43-0B04-4B93-8AF4-1085C91CDF25}" destId="{F4FD06E5-EC6A-43BF-A127-932B26C7208F}" srcOrd="1" destOrd="0" presId="urn:microsoft.com/office/officeart/2005/8/layout/radial2"/>
    <dgm:cxn modelId="{5EF7F7D4-9D0E-45A4-B275-880029DF9367}" type="presParOf" srcId="{94C7EB90-CDF6-4587-8E8D-4FA1B04BD62D}" destId="{80A1A702-3235-4BAD-89E9-6746572FE937}" srcOrd="3" destOrd="0" presId="urn:microsoft.com/office/officeart/2005/8/layout/radial2"/>
    <dgm:cxn modelId="{DD0AD84B-8426-430E-9162-4ED4E9C9AD99}" type="presParOf" srcId="{94C7EB90-CDF6-4587-8E8D-4FA1B04BD62D}" destId="{906D4C8F-1BCB-4613-9716-42AED511FC39}" srcOrd="4" destOrd="0" presId="urn:microsoft.com/office/officeart/2005/8/layout/radial2"/>
    <dgm:cxn modelId="{8A74FB77-A3BC-411D-8219-F107B626D25F}" type="presParOf" srcId="{906D4C8F-1BCB-4613-9716-42AED511FC39}" destId="{1F5D999E-64C4-4BE5-8671-4F67CBF136FA}" srcOrd="0" destOrd="0" presId="urn:microsoft.com/office/officeart/2005/8/layout/radial2"/>
    <dgm:cxn modelId="{0FA651DB-BDB5-4FD9-BA76-23C1FD9EB856}" type="presParOf" srcId="{906D4C8F-1BCB-4613-9716-42AED511FC39}" destId="{2D8BEB01-6F59-4898-BEE8-F2145A5C5598}" srcOrd="1" destOrd="0" presId="urn:microsoft.com/office/officeart/2005/8/layout/radial2"/>
    <dgm:cxn modelId="{D07328DB-706C-4B27-87DA-7EE85A4F2190}" type="presParOf" srcId="{94C7EB90-CDF6-4587-8E8D-4FA1B04BD62D}" destId="{E60073BE-9EEA-4732-AE65-71115D5D7631}" srcOrd="5" destOrd="0" presId="urn:microsoft.com/office/officeart/2005/8/layout/radial2"/>
    <dgm:cxn modelId="{AB2DB420-864B-4597-943C-2857530D9F0D}" type="presParOf" srcId="{94C7EB90-CDF6-4587-8E8D-4FA1B04BD62D}" destId="{17484447-FD18-442E-B9D6-363B0B12B70E}" srcOrd="6" destOrd="0" presId="urn:microsoft.com/office/officeart/2005/8/layout/radial2"/>
    <dgm:cxn modelId="{455A88F1-10F8-4238-AE87-B7605F83D947}" type="presParOf" srcId="{17484447-FD18-442E-B9D6-363B0B12B70E}" destId="{EABB8EEB-4C9C-422C-B13D-E43A306AD800}" srcOrd="0" destOrd="0" presId="urn:microsoft.com/office/officeart/2005/8/layout/radial2"/>
    <dgm:cxn modelId="{0D5CE8AF-0DD3-4450-88EC-8E396FCA60F5}" type="presParOf" srcId="{17484447-FD18-442E-B9D6-363B0B12B70E}" destId="{67C0B77B-FE99-4E23-AD13-683B285265D2}" srcOrd="1" destOrd="0" presId="urn:microsoft.com/office/officeart/2005/8/layout/radial2"/>
    <dgm:cxn modelId="{B58F7328-CBB9-4EDA-BD54-E67CA9E41A72}" type="presParOf" srcId="{94C7EB90-CDF6-4587-8E8D-4FA1B04BD62D}" destId="{89C9C78B-A0BA-4E61-A74E-BB6E6FE5FA91}" srcOrd="7" destOrd="0" presId="urn:microsoft.com/office/officeart/2005/8/layout/radial2"/>
    <dgm:cxn modelId="{2703C548-C134-4E84-8FFD-A7ECC09328E3}" type="presParOf" srcId="{94C7EB90-CDF6-4587-8E8D-4FA1B04BD62D}" destId="{6B317127-A3C0-4571-B3DD-3885C261D60F}" srcOrd="8" destOrd="0" presId="urn:microsoft.com/office/officeart/2005/8/layout/radial2"/>
    <dgm:cxn modelId="{60E2F102-16D4-438D-8946-361F10438D35}" type="presParOf" srcId="{6B317127-A3C0-4571-B3DD-3885C261D60F}" destId="{E9B27243-5134-469A-8898-D8FBD9FC064D}" srcOrd="0" destOrd="0" presId="urn:microsoft.com/office/officeart/2005/8/layout/radial2"/>
    <dgm:cxn modelId="{5CFFD1E3-8A86-4F8D-A332-48197D3AE5B0}" type="presParOf" srcId="{6B317127-A3C0-4571-B3DD-3885C261D60F}" destId="{07C7BBEB-8EE1-44A5-8E39-A088D6D55387}" srcOrd="1" destOrd="0" presId="urn:microsoft.com/office/officeart/2005/8/layout/radial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9C9C78B-A0BA-4E61-A74E-BB6E6FE5FA91}">
      <dsp:nvSpPr>
        <dsp:cNvPr id="0" name=""/>
        <dsp:cNvSpPr/>
      </dsp:nvSpPr>
      <dsp:spPr>
        <a:xfrm rot="2800827">
          <a:off x="3045603" y="4679858"/>
          <a:ext cx="1401618" cy="48339"/>
        </a:xfrm>
        <a:custGeom>
          <a:avLst/>
          <a:gdLst/>
          <a:ahLst/>
          <a:cxnLst/>
          <a:rect l="0" t="0" r="0" b="0"/>
          <a:pathLst>
            <a:path>
              <a:moveTo>
                <a:pt x="0" y="24169"/>
              </a:moveTo>
              <a:lnTo>
                <a:pt x="1401618" y="241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0073BE-9EEA-4732-AE65-71115D5D7631}">
      <dsp:nvSpPr>
        <dsp:cNvPr id="0" name=""/>
        <dsp:cNvSpPr/>
      </dsp:nvSpPr>
      <dsp:spPr>
        <a:xfrm rot="1170415">
          <a:off x="3222414" y="4151302"/>
          <a:ext cx="3212246" cy="48339"/>
        </a:xfrm>
        <a:custGeom>
          <a:avLst/>
          <a:gdLst/>
          <a:ahLst/>
          <a:cxnLst/>
          <a:rect l="0" t="0" r="0" b="0"/>
          <a:pathLst>
            <a:path>
              <a:moveTo>
                <a:pt x="0" y="24169"/>
              </a:moveTo>
              <a:lnTo>
                <a:pt x="3212246" y="241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A1A702-3235-4BAD-89E9-6746572FE937}">
      <dsp:nvSpPr>
        <dsp:cNvPr id="0" name=""/>
        <dsp:cNvSpPr/>
      </dsp:nvSpPr>
      <dsp:spPr>
        <a:xfrm rot="21076426">
          <a:off x="3297915" y="2959857"/>
          <a:ext cx="2883477" cy="48339"/>
        </a:xfrm>
        <a:custGeom>
          <a:avLst/>
          <a:gdLst/>
          <a:ahLst/>
          <a:cxnLst/>
          <a:rect l="0" t="0" r="0" b="0"/>
          <a:pathLst>
            <a:path>
              <a:moveTo>
                <a:pt x="0" y="24169"/>
              </a:moveTo>
              <a:lnTo>
                <a:pt x="2883477" y="241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A1CA65-F166-439F-8526-DF3BD2773D4C}">
      <dsp:nvSpPr>
        <dsp:cNvPr id="0" name=""/>
        <dsp:cNvSpPr/>
      </dsp:nvSpPr>
      <dsp:spPr>
        <a:xfrm rot="18935377">
          <a:off x="3131777" y="2020650"/>
          <a:ext cx="1280056" cy="48339"/>
        </a:xfrm>
        <a:custGeom>
          <a:avLst/>
          <a:gdLst/>
          <a:ahLst/>
          <a:cxnLst/>
          <a:rect l="0" t="0" r="0" b="0"/>
          <a:pathLst>
            <a:path>
              <a:moveTo>
                <a:pt x="0" y="24169"/>
              </a:moveTo>
              <a:lnTo>
                <a:pt x="1280056" y="241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7EE9D9-62BE-44D8-9260-68A0E190BFFA}">
      <dsp:nvSpPr>
        <dsp:cNvPr id="0" name=""/>
        <dsp:cNvSpPr/>
      </dsp:nvSpPr>
      <dsp:spPr>
        <a:xfrm>
          <a:off x="1235147" y="2000296"/>
          <a:ext cx="2455664" cy="24556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CC2ED6-0856-4FBB-9A31-BDC4F7D2AF1F}">
      <dsp:nvSpPr>
        <dsp:cNvPr id="0" name=""/>
        <dsp:cNvSpPr/>
      </dsp:nvSpPr>
      <dsp:spPr>
        <a:xfrm>
          <a:off x="3995937" y="332648"/>
          <a:ext cx="1543252" cy="14733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l-GR" sz="2000" kern="1200" dirty="0" smtClean="0"/>
            <a:t>79% Γυναίκες</a:t>
          </a:r>
          <a:endParaRPr lang="el-GR" sz="2000" kern="1200" dirty="0"/>
        </a:p>
      </dsp:txBody>
      <dsp:txXfrm>
        <a:off x="3995937" y="332648"/>
        <a:ext cx="1543252" cy="1473398"/>
      </dsp:txXfrm>
    </dsp:sp>
    <dsp:sp modelId="{1F5D999E-64C4-4BE5-8671-4F67CBF136FA}">
      <dsp:nvSpPr>
        <dsp:cNvPr id="0" name=""/>
        <dsp:cNvSpPr/>
      </dsp:nvSpPr>
      <dsp:spPr>
        <a:xfrm>
          <a:off x="6156176" y="1916829"/>
          <a:ext cx="1473398" cy="14733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l-GR" sz="2000" kern="1200" dirty="0" smtClean="0"/>
            <a:t>21% Άνδρες</a:t>
          </a:r>
          <a:endParaRPr lang="el-GR" sz="2000" kern="1200" dirty="0"/>
        </a:p>
      </dsp:txBody>
      <dsp:txXfrm>
        <a:off x="6156176" y="1916829"/>
        <a:ext cx="1473398" cy="1473398"/>
      </dsp:txXfrm>
    </dsp:sp>
    <dsp:sp modelId="{EABB8EEB-4C9C-422C-B13D-E43A306AD800}">
      <dsp:nvSpPr>
        <dsp:cNvPr id="0" name=""/>
        <dsp:cNvSpPr/>
      </dsp:nvSpPr>
      <dsp:spPr>
        <a:xfrm>
          <a:off x="6300186" y="4221090"/>
          <a:ext cx="1473398" cy="14733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l-GR" sz="2000" kern="1200" dirty="0" smtClean="0"/>
            <a:t>78% δεν ψηφίζει </a:t>
          </a:r>
          <a:endParaRPr lang="el-GR" sz="2000" kern="1200" dirty="0"/>
        </a:p>
      </dsp:txBody>
      <dsp:txXfrm>
        <a:off x="6300186" y="4221090"/>
        <a:ext cx="1473398" cy="1473398"/>
      </dsp:txXfrm>
    </dsp:sp>
    <dsp:sp modelId="{E9B27243-5134-469A-8898-D8FBD9FC064D}">
      <dsp:nvSpPr>
        <dsp:cNvPr id="0" name=""/>
        <dsp:cNvSpPr/>
      </dsp:nvSpPr>
      <dsp:spPr>
        <a:xfrm>
          <a:off x="3995939" y="5013172"/>
          <a:ext cx="1473398" cy="14733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l-GR" sz="2000" kern="1200" dirty="0" smtClean="0"/>
            <a:t>22% ψηφίζει</a:t>
          </a:r>
          <a:endParaRPr lang="el-GR" sz="2000" kern="1200" dirty="0"/>
        </a:p>
      </dsp:txBody>
      <dsp:txXfrm>
        <a:off x="3995939" y="5013172"/>
        <a:ext cx="1473398" cy="1473398"/>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0.08716</cdr:x>
      <cdr:y>0.1955</cdr:y>
    </cdr:from>
    <cdr:to>
      <cdr:x>0.67782</cdr:x>
      <cdr:y>0.29</cdr:y>
    </cdr:to>
    <cdr:sp macro="" textlink="">
      <cdr:nvSpPr>
        <cdr:cNvPr id="2" name="1 - TextBox"/>
        <cdr:cNvSpPr txBox="1"/>
      </cdr:nvSpPr>
      <cdr:spPr>
        <a:xfrm xmlns:a="http://schemas.openxmlformats.org/drawingml/2006/main">
          <a:off x="467544" y="1340768"/>
          <a:ext cx="3168352" cy="64807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l-GR" sz="2000" b="1" dirty="0" smtClean="0">
              <a:solidFill>
                <a:schemeClr val="tx1"/>
              </a:solidFill>
            </a:rPr>
            <a:t>Όσοι έχουν ψηφίσει</a:t>
          </a:r>
          <a:endParaRPr lang="el-GR" sz="2000" b="1" dirty="0">
            <a:solidFill>
              <a:schemeClr val="tx1"/>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κεφαλίδας"/>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l-GR"/>
          </a:p>
        </p:txBody>
      </p:sp>
      <p:sp>
        <p:nvSpPr>
          <p:cNvPr id="3" name="2 - Θέση ημερομηνίας"/>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B6122-5A16-47D1-B1AF-7860F14E5C6E}" type="datetimeFigureOut">
              <a:rPr lang="el-GR" smtClean="0"/>
              <a:pPr/>
              <a:t>22/5/2017</a:t>
            </a:fld>
            <a:endParaRPr lang="el-GR"/>
          </a:p>
        </p:txBody>
      </p:sp>
      <p:sp>
        <p:nvSpPr>
          <p:cNvPr id="4" name="3 - Θέση υποσέλιδου"/>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l-GR"/>
          </a:p>
        </p:txBody>
      </p:sp>
      <p:sp>
        <p:nvSpPr>
          <p:cNvPr id="5" name="4 - Θέση αριθμού διαφάνειας"/>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1521256-35F2-41D3-B6A0-011F2AAD23F1}" type="slidenum">
              <a:rPr lang="el-GR" smtClean="0"/>
              <a:pPr/>
              <a:t>‹#›</a:t>
            </a:fld>
            <a:endParaRPr lang="el-G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κεφαλίδας"/>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l-GR"/>
          </a:p>
        </p:txBody>
      </p:sp>
      <p:sp>
        <p:nvSpPr>
          <p:cNvPr id="3" name="2 - Θέση ημερομηνίας"/>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463303-3E9D-41E1-8019-ECB8624AD5DD}" type="datetimeFigureOut">
              <a:rPr lang="el-GR" smtClean="0"/>
              <a:pPr/>
              <a:t>22/5/2017</a:t>
            </a:fld>
            <a:endParaRPr lang="el-GR"/>
          </a:p>
        </p:txBody>
      </p:sp>
      <p:sp>
        <p:nvSpPr>
          <p:cNvPr id="4" name="3 - Θέση εικόνας διαφάνειας"/>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l-GR"/>
          </a:p>
        </p:txBody>
      </p:sp>
      <p:sp>
        <p:nvSpPr>
          <p:cNvPr id="5" name="4 - Θέση σημειώσεων"/>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6" name="5 - Θέση υποσέλιδου"/>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l-GR"/>
          </a:p>
        </p:txBody>
      </p:sp>
      <p:sp>
        <p:nvSpPr>
          <p:cNvPr id="7" name="6 - Θέση αριθμού διαφάνειας"/>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E5D8430-1890-4198-8619-F04458CCABB5}" type="slidenum">
              <a:rPr lang="el-GR" smtClean="0"/>
              <a:pPr/>
              <a:t>‹#›</a:t>
            </a:fld>
            <a:endParaRPr lang="el-G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7" name="6 - Ισοσκελές τρίγωνο"/>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 Τίτλος"/>
          <p:cNvSpPr>
            <a:spLocks noGrp="1"/>
          </p:cNvSpPr>
          <p:nvPr>
            <p:ph type="ctrTitle"/>
          </p:nvPr>
        </p:nvSpPr>
        <p:spPr>
          <a:xfrm>
            <a:off x="540544" y="776288"/>
            <a:ext cx="8062912" cy="1470025"/>
          </a:xfrm>
        </p:spPr>
        <p:txBody>
          <a:bodyPr anchor="b">
            <a:normAutofit/>
          </a:bodyPr>
          <a:lstStyle>
            <a:lvl1pPr algn="r">
              <a:defRPr sz="4400"/>
            </a:lvl1pPr>
          </a:lstStyle>
          <a:p>
            <a:r>
              <a:rPr kumimoji="0" lang="el-GR" smtClean="0"/>
              <a:t>Kλικ για επεξεργασία του τίτλου</a:t>
            </a:r>
            <a:endParaRPr kumimoji="0" lang="en-US"/>
          </a:p>
        </p:txBody>
      </p:sp>
      <p:sp>
        <p:nvSpPr>
          <p:cNvPr id="9" name="8 - Υπότιτλος"/>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l-GR" smtClean="0"/>
              <a:t>Κάντε κλικ για να επεξεργαστείτε τον υπότιτλο του υποδείγματος</a:t>
            </a:r>
            <a:endParaRPr kumimoji="0" lang="en-US"/>
          </a:p>
        </p:txBody>
      </p:sp>
      <p:sp>
        <p:nvSpPr>
          <p:cNvPr id="28" name="27 - Θέση ημερομηνίας"/>
          <p:cNvSpPr>
            <a:spLocks noGrp="1"/>
          </p:cNvSpPr>
          <p:nvPr>
            <p:ph type="dt" sz="half" idx="10"/>
          </p:nvPr>
        </p:nvSpPr>
        <p:spPr>
          <a:xfrm>
            <a:off x="1371600" y="6012656"/>
            <a:ext cx="5791200" cy="365125"/>
          </a:xfrm>
        </p:spPr>
        <p:txBody>
          <a:bodyPr tIns="0" bIns="0" anchor="t"/>
          <a:lstStyle>
            <a:lvl1pPr algn="r">
              <a:defRPr sz="1000"/>
            </a:lvl1pPr>
          </a:lstStyle>
          <a:p>
            <a:fld id="{E3214F00-202C-4FC1-B913-5A8100F7EED0}" type="datetimeFigureOut">
              <a:rPr lang="el-GR" smtClean="0"/>
              <a:pPr/>
              <a:t>22/5/2017</a:t>
            </a:fld>
            <a:endParaRPr lang="el-GR"/>
          </a:p>
        </p:txBody>
      </p:sp>
      <p:sp>
        <p:nvSpPr>
          <p:cNvPr id="17" name="16 - Θέση υποσέλιδου"/>
          <p:cNvSpPr>
            <a:spLocks noGrp="1"/>
          </p:cNvSpPr>
          <p:nvPr>
            <p:ph type="ftr" sz="quarter" idx="11"/>
          </p:nvPr>
        </p:nvSpPr>
        <p:spPr>
          <a:xfrm>
            <a:off x="1371600" y="5650704"/>
            <a:ext cx="5791200" cy="365125"/>
          </a:xfrm>
        </p:spPr>
        <p:txBody>
          <a:bodyPr tIns="0" bIns="0" anchor="b"/>
          <a:lstStyle>
            <a:lvl1pPr algn="r">
              <a:defRPr sz="1100"/>
            </a:lvl1pPr>
          </a:lstStyle>
          <a:p>
            <a:endParaRPr lang="el-GR"/>
          </a:p>
        </p:txBody>
      </p:sp>
      <p:sp>
        <p:nvSpPr>
          <p:cNvPr id="29" name="28 - Θέση αριθμού διαφάνειας"/>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Αντικείμενο">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67494"/>
            <a:ext cx="8229600" cy="1399032"/>
          </a:xfrm>
        </p:spPr>
        <p:txBody>
          <a:bodyPr/>
          <a:lstStyle/>
          <a:p>
            <a:r>
              <a:rPr kumimoji="0" lang="el-GR" smtClean="0"/>
              <a:t>Kλικ για επεξεργασία του τίτλου</a:t>
            </a:r>
            <a:endParaRPr kumimoji="0" lang="en-US"/>
          </a:p>
        </p:txBody>
      </p:sp>
      <p:sp>
        <p:nvSpPr>
          <p:cNvPr id="3" name="2 - Θέση περιεχομένου"/>
          <p:cNvSpPr>
            <a:spLocks noGrp="1"/>
          </p:cNvSpPr>
          <p:nvPr>
            <p:ph idx="1"/>
          </p:nvPr>
        </p:nvSpPr>
        <p:spPr>
          <a:xfrm>
            <a:off x="457200" y="1882808"/>
            <a:ext cx="8229600" cy="4572000"/>
          </a:xfrm>
        </p:spPr>
        <p:txBody>
          <a:body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3 - Θέση ημερομηνίας"/>
          <p:cNvSpPr>
            <a:spLocks noGrp="1"/>
          </p:cNvSpPr>
          <p:nvPr>
            <p:ph type="dt" sz="half" idx="10"/>
          </p:nvPr>
        </p:nvSpPr>
        <p:spPr>
          <a:xfrm>
            <a:off x="4791456" y="6480048"/>
            <a:ext cx="2133600" cy="301752"/>
          </a:xfrm>
        </p:spPr>
        <p:txBody>
          <a:bodyPr/>
          <a:lstStyle/>
          <a:p>
            <a:fld id="{E3214F00-202C-4FC1-B913-5A8100F7EED0}" type="datetimeFigureOut">
              <a:rPr lang="el-GR" smtClean="0"/>
              <a:pPr/>
              <a:t>22/5/2017</a:t>
            </a:fld>
            <a:endParaRPr lang="el-GR"/>
          </a:p>
        </p:txBody>
      </p:sp>
      <p:sp>
        <p:nvSpPr>
          <p:cNvPr id="5" name="4 - Θέση υποσέλιδου"/>
          <p:cNvSpPr>
            <a:spLocks noGrp="1"/>
          </p:cNvSpPr>
          <p:nvPr>
            <p:ph type="ftr" sz="quarter" idx="11"/>
          </p:nvPr>
        </p:nvSpPr>
        <p:spPr>
          <a:xfrm>
            <a:off x="457200" y="6480969"/>
            <a:ext cx="4260056" cy="300831"/>
          </a:xfrm>
        </p:spPr>
        <p:txBody>
          <a:bodyPr/>
          <a:lstStyle/>
          <a:p>
            <a:endParaRPr lang="el-GR"/>
          </a:p>
        </p:txBody>
      </p:sp>
      <p:sp>
        <p:nvSpPr>
          <p:cNvPr id="6" name="5 - Θέση αριθμού διαφάνειας"/>
          <p:cNvSpPr>
            <a:spLocks noGrp="1"/>
          </p:cNvSpPr>
          <p:nvPr>
            <p:ph type="sldNum" sz="quarter" idx="12"/>
          </p:nvPr>
        </p:nvSpPr>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Κεφαλίδα ενότητας">
    <p:bg>
      <p:bgRef idx="1002">
        <a:schemeClr val="bg1"/>
      </p:bgRef>
    </p:bg>
    <p:spTree>
      <p:nvGrpSpPr>
        <p:cNvPr id="1" name=""/>
        <p:cNvGrpSpPr/>
        <p:nvPr/>
      </p:nvGrpSpPr>
      <p:grpSpPr>
        <a:xfrm>
          <a:off x="0" y="0"/>
          <a:ext cx="0" cy="0"/>
          <a:chOff x="0" y="0"/>
          <a:chExt cx="0" cy="0"/>
        </a:xfrm>
      </p:grpSpPr>
      <p:sp>
        <p:nvSpPr>
          <p:cNvPr id="9" name="8 - Ορθογώνιο τρίγωνο"/>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7 - Ισοσκελές τρίγωνο"/>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3 - Θέση ημερομηνίας"/>
          <p:cNvSpPr>
            <a:spLocks noGrp="1"/>
          </p:cNvSpPr>
          <p:nvPr>
            <p:ph type="dt" sz="half" idx="10"/>
          </p:nvPr>
        </p:nvSpPr>
        <p:spPr>
          <a:xfrm>
            <a:off x="6955632" y="6477000"/>
            <a:ext cx="2133600" cy="304800"/>
          </a:xfrm>
        </p:spPr>
        <p:txBody>
          <a:bodyPr/>
          <a:lstStyle/>
          <a:p>
            <a:fld id="{E3214F00-202C-4FC1-B913-5A8100F7EED0}" type="datetimeFigureOut">
              <a:rPr lang="el-GR" smtClean="0"/>
              <a:pPr/>
              <a:t>22/5/2017</a:t>
            </a:fld>
            <a:endParaRPr lang="el-GR"/>
          </a:p>
        </p:txBody>
      </p:sp>
      <p:sp>
        <p:nvSpPr>
          <p:cNvPr id="5" name="4 - Θέση υποσέλιδου"/>
          <p:cNvSpPr>
            <a:spLocks noGrp="1"/>
          </p:cNvSpPr>
          <p:nvPr>
            <p:ph type="ftr" sz="quarter" idx="11"/>
          </p:nvPr>
        </p:nvSpPr>
        <p:spPr>
          <a:xfrm>
            <a:off x="2619376" y="6480969"/>
            <a:ext cx="4260056" cy="300831"/>
          </a:xfrm>
        </p:spPr>
        <p:txBody>
          <a:bodyPr/>
          <a:lstStyle/>
          <a:p>
            <a:endParaRPr lang="el-GR"/>
          </a:p>
        </p:txBody>
      </p:sp>
      <p:sp>
        <p:nvSpPr>
          <p:cNvPr id="6" name="5 - Θέση αριθμού διαφάνειας"/>
          <p:cNvSpPr>
            <a:spLocks noGrp="1"/>
          </p:cNvSpPr>
          <p:nvPr>
            <p:ph type="sldNum" sz="quarter" idx="12"/>
          </p:nvPr>
        </p:nvSpPr>
        <p:spPr>
          <a:xfrm>
            <a:off x="8451056" y="809624"/>
            <a:ext cx="502920" cy="300831"/>
          </a:xfrm>
        </p:spPr>
        <p:txBody>
          <a:bodyPr/>
          <a:lstStyle/>
          <a:p>
            <a:fld id="{AF1FFB62-F3EE-43F7-926A-4CB7BA12DA80}" type="slidenum">
              <a:rPr lang="el-GR" smtClean="0"/>
              <a:pPr/>
              <a:t>‹#›</a:t>
            </a:fld>
            <a:endParaRPr lang="el-GR"/>
          </a:p>
        </p:txBody>
      </p:sp>
      <p:cxnSp>
        <p:nvCxnSpPr>
          <p:cNvPr id="11" name="10 - Ευθεία γραμμή σύνδεσης"/>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 Ευθεία γραμμή σύνδεσης"/>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 Τίτλος"/>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l-GR" smtClean="0"/>
              <a:t>Kλικ για επεξεργασία του τίτλου</a:t>
            </a:r>
            <a:endParaRPr kumimoji="0" lang="en-US"/>
          </a:p>
        </p:txBody>
      </p:sp>
      <p:sp>
        <p:nvSpPr>
          <p:cNvPr id="3" name="2 - Θέση κειμένου"/>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l-GR" smtClean="0"/>
              <a:t>Kλικ για επεξεργασία των στυλ του υποδείγματος</a:t>
            </a:r>
          </a:p>
        </p:txBody>
      </p:sp>
    </p:spTree>
  </p:cSld>
  <p:clrMapOvr>
    <a:overrideClrMapping bg1="dk1" tx1="lt1" bg2="dk2" tx2="lt2" accent1="accent1" accent2="accent2" accent3="accent3" accent4="accent4" accent5="accent5" accent6="accent6" hlink="hlink" folHlink="folHlink"/>
  </p:clrMapOvr>
  <p:transition spd="med">
    <p:dissolv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marL="0" algn="l">
              <a:defRPr/>
            </a:lvl1pPr>
          </a:lstStyle>
          <a:p>
            <a:r>
              <a:rPr kumimoji="0" lang="el-GR" smtClean="0"/>
              <a:t>Kλικ για επεξεργασία του τίτλου</a:t>
            </a:r>
            <a:endParaRPr kumimoji="0" lang="en-US"/>
          </a:p>
        </p:txBody>
      </p:sp>
      <p:sp>
        <p:nvSpPr>
          <p:cNvPr id="3" name="2 - Θέση περιεχομένου"/>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3 - Θέση περιεχομένου"/>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5" name="4 - Θέση ημερομηνίας"/>
          <p:cNvSpPr>
            <a:spLocks noGrp="1"/>
          </p:cNvSpPr>
          <p:nvPr>
            <p:ph type="dt" sz="half" idx="10"/>
          </p:nvPr>
        </p:nvSpPr>
        <p:spPr>
          <a:xfrm>
            <a:off x="4791456" y="6480969"/>
            <a:ext cx="2133600" cy="301752"/>
          </a:xfrm>
        </p:spPr>
        <p:txBody>
          <a:bodyPr/>
          <a:lstStyle/>
          <a:p>
            <a:fld id="{E3214F00-202C-4FC1-B913-5A8100F7EED0}" type="datetimeFigureOut">
              <a:rPr lang="el-GR" smtClean="0"/>
              <a:pPr/>
              <a:t>22/5/2017</a:t>
            </a:fld>
            <a:endParaRPr lang="el-GR"/>
          </a:p>
        </p:txBody>
      </p:sp>
      <p:sp>
        <p:nvSpPr>
          <p:cNvPr id="6" name="5 - Θέση υποσέλιδου"/>
          <p:cNvSpPr>
            <a:spLocks noGrp="1"/>
          </p:cNvSpPr>
          <p:nvPr>
            <p:ph type="ftr" sz="quarter" idx="11"/>
          </p:nvPr>
        </p:nvSpPr>
        <p:spPr>
          <a:xfrm>
            <a:off x="457200" y="6480969"/>
            <a:ext cx="4260056" cy="301752"/>
          </a:xfrm>
        </p:spPr>
        <p:txBody>
          <a:bodyPr/>
          <a:lstStyle/>
          <a:p>
            <a:endParaRPr lang="el-GR"/>
          </a:p>
        </p:txBody>
      </p:sp>
      <p:sp>
        <p:nvSpPr>
          <p:cNvPr id="7" name="6 - Θέση αριθμού διαφάνειας"/>
          <p:cNvSpPr>
            <a:spLocks noGrp="1"/>
          </p:cNvSpPr>
          <p:nvPr>
            <p:ph type="sldNum" sz="quarter" idx="12"/>
          </p:nvPr>
        </p:nvSpPr>
        <p:spPr>
          <a:xfrm>
            <a:off x="7589520" y="6480969"/>
            <a:ext cx="502920" cy="301752"/>
          </a:xfrm>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Σύγκριση">
    <p:bg>
      <p:bgRef idx="1002">
        <a:schemeClr val="bg2"/>
      </p:bgRef>
    </p:bg>
    <p:spTree>
      <p:nvGrpSpPr>
        <p:cNvPr id="1" name=""/>
        <p:cNvGrpSpPr/>
        <p:nvPr/>
      </p:nvGrpSpPr>
      <p:grpSpPr>
        <a:xfrm>
          <a:off x="0" y="0"/>
          <a:ext cx="0" cy="0"/>
          <a:chOff x="0" y="0"/>
          <a:chExt cx="0" cy="0"/>
        </a:xfrm>
      </p:grpSpPr>
      <p:sp>
        <p:nvSpPr>
          <p:cNvPr id="2" name="1 - Τίτλος"/>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l-GR" smtClean="0"/>
              <a:t>Kλικ για επεξεργασία του τίτλου</a:t>
            </a:r>
            <a:endParaRPr kumimoji="0" lang="en-US"/>
          </a:p>
        </p:txBody>
      </p:sp>
      <p:sp>
        <p:nvSpPr>
          <p:cNvPr id="3" name="2 - Θέση κειμένου"/>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l-GR" smtClean="0"/>
              <a:t>Kλικ για επεξεργασία των στυλ του υποδείγματος</a:t>
            </a:r>
          </a:p>
        </p:txBody>
      </p:sp>
      <p:sp>
        <p:nvSpPr>
          <p:cNvPr id="4" name="3 - Θέση κειμένου"/>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l-GR" smtClean="0"/>
              <a:t>Kλικ για επεξεργασία των στυλ του υποδείγματος</a:t>
            </a:r>
          </a:p>
        </p:txBody>
      </p:sp>
      <p:sp>
        <p:nvSpPr>
          <p:cNvPr id="5" name="4 - Θέση περιεχομένου"/>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6" name="5 - Θέση περιεχομένου"/>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7" name="6 - Θέση ημερομηνίας"/>
          <p:cNvSpPr>
            <a:spLocks noGrp="1"/>
          </p:cNvSpPr>
          <p:nvPr>
            <p:ph type="dt" sz="half" idx="10"/>
          </p:nvPr>
        </p:nvSpPr>
        <p:spPr>
          <a:xfrm>
            <a:off x="4791456" y="6480969"/>
            <a:ext cx="2130552" cy="301752"/>
          </a:xfrm>
        </p:spPr>
        <p:txBody>
          <a:bodyPr/>
          <a:lstStyle/>
          <a:p>
            <a:fld id="{E3214F00-202C-4FC1-B913-5A8100F7EED0}" type="datetimeFigureOut">
              <a:rPr lang="el-GR" smtClean="0"/>
              <a:pPr/>
              <a:t>22/5/2017</a:t>
            </a:fld>
            <a:endParaRPr lang="el-GR"/>
          </a:p>
        </p:txBody>
      </p:sp>
      <p:sp>
        <p:nvSpPr>
          <p:cNvPr id="8" name="7 - Θέση υποσέλιδου"/>
          <p:cNvSpPr>
            <a:spLocks noGrp="1"/>
          </p:cNvSpPr>
          <p:nvPr>
            <p:ph type="ftr" sz="quarter" idx="11"/>
          </p:nvPr>
        </p:nvSpPr>
        <p:spPr>
          <a:xfrm>
            <a:off x="457200" y="6480969"/>
            <a:ext cx="4261104" cy="301752"/>
          </a:xfrm>
        </p:spPr>
        <p:txBody>
          <a:bodyPr/>
          <a:lstStyle/>
          <a:p>
            <a:endParaRPr lang="el-GR"/>
          </a:p>
        </p:txBody>
      </p:sp>
      <p:sp>
        <p:nvSpPr>
          <p:cNvPr id="9" name="8 - Θέση αριθμού διαφάνειας"/>
          <p:cNvSpPr>
            <a:spLocks noGrp="1"/>
          </p:cNvSpPr>
          <p:nvPr>
            <p:ph type="sldNum" sz="quarter" idx="12"/>
          </p:nvPr>
        </p:nvSpPr>
        <p:spPr>
          <a:xfrm>
            <a:off x="7589520" y="6483096"/>
            <a:ext cx="502920" cy="301752"/>
          </a:xfrm>
        </p:spPr>
        <p:txBody>
          <a:bodyPr/>
          <a:lstStyle>
            <a:lvl1pPr algn="ctr">
              <a:defRPr/>
            </a:lvl1pPr>
          </a:lstStyle>
          <a:p>
            <a:fld id="{AF1FFB62-F3EE-43F7-926A-4CB7BA12DA80}" type="slidenum">
              <a:rPr lang="el-GR" smtClean="0"/>
              <a:pPr/>
              <a:t>‹#›</a:t>
            </a:fld>
            <a:endParaRPr lang="el-GR"/>
          </a:p>
        </p:txBody>
      </p:sp>
    </p:spTree>
  </p:cSld>
  <p:clrMapOvr>
    <a:overrideClrMapping bg1="dk1" tx1="lt1" bg2="dk2" tx2="lt2" accent1="accent1" accent2="accent2" accent3="accent3" accent4="accent4" accent5="accent5" accent6="accent6" hlink="hlink" folHlink="folHlink"/>
  </p:clrMapOvr>
  <p:transition spd="med">
    <p:dissolv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a:defRPr b="0"/>
            </a:lvl1pPr>
          </a:lstStyle>
          <a:p>
            <a:r>
              <a:rPr kumimoji="0" lang="el-GR" smtClean="0"/>
              <a:t>Kλικ για επεξεργασία του τίτλου</a:t>
            </a:r>
            <a:endParaRPr kumimoji="0" lang="en-US"/>
          </a:p>
        </p:txBody>
      </p:sp>
      <p:sp>
        <p:nvSpPr>
          <p:cNvPr id="3" name="2 - Θέση ημερομηνίας"/>
          <p:cNvSpPr>
            <a:spLocks noGrp="1"/>
          </p:cNvSpPr>
          <p:nvPr>
            <p:ph type="dt" sz="half" idx="10"/>
          </p:nvPr>
        </p:nvSpPr>
        <p:spPr/>
        <p:txBody>
          <a:bodyPr/>
          <a:lstStyle/>
          <a:p>
            <a:fld id="{E3214F00-202C-4FC1-B913-5A8100F7EED0}" type="datetimeFigureOut">
              <a:rPr lang="el-GR" smtClean="0"/>
              <a:pPr/>
              <a:t>22/5/2017</a:t>
            </a:fld>
            <a:endParaRPr lang="el-GR"/>
          </a:p>
        </p:txBody>
      </p:sp>
      <p:sp>
        <p:nvSpPr>
          <p:cNvPr id="4" name="3 - Θέση υποσέλιδου"/>
          <p:cNvSpPr>
            <a:spLocks noGrp="1"/>
          </p:cNvSpPr>
          <p:nvPr>
            <p:ph type="ftr" sz="quarter" idx="11"/>
          </p:nvPr>
        </p:nvSpPr>
        <p:spPr/>
        <p:txBody>
          <a:bodyPr/>
          <a:lstStyle/>
          <a:p>
            <a:endParaRPr lang="el-GR"/>
          </a:p>
        </p:txBody>
      </p:sp>
      <p:sp>
        <p:nvSpPr>
          <p:cNvPr id="5" name="4 - Θέση αριθμού διαφάνειας"/>
          <p:cNvSpPr>
            <a:spLocks noGrp="1"/>
          </p:cNvSpPr>
          <p:nvPr>
            <p:ph type="sldNum" sz="quarter" idx="12"/>
          </p:nvPr>
        </p:nvSpPr>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1 - Θέση ημερομηνίας"/>
          <p:cNvSpPr>
            <a:spLocks noGrp="1"/>
          </p:cNvSpPr>
          <p:nvPr>
            <p:ph type="dt" sz="half" idx="10"/>
          </p:nvPr>
        </p:nvSpPr>
        <p:spPr>
          <a:xfrm>
            <a:off x="4791456" y="6480969"/>
            <a:ext cx="2133600" cy="301752"/>
          </a:xfrm>
        </p:spPr>
        <p:txBody>
          <a:bodyPr/>
          <a:lstStyle/>
          <a:p>
            <a:fld id="{E3214F00-202C-4FC1-B913-5A8100F7EED0}" type="datetimeFigureOut">
              <a:rPr lang="el-GR" smtClean="0"/>
              <a:pPr/>
              <a:t>22/5/2017</a:t>
            </a:fld>
            <a:endParaRPr lang="el-GR"/>
          </a:p>
        </p:txBody>
      </p:sp>
      <p:sp>
        <p:nvSpPr>
          <p:cNvPr id="3" name="2 - Θέση υποσέλιδου"/>
          <p:cNvSpPr>
            <a:spLocks noGrp="1"/>
          </p:cNvSpPr>
          <p:nvPr>
            <p:ph type="ftr" sz="quarter" idx="11"/>
          </p:nvPr>
        </p:nvSpPr>
        <p:spPr>
          <a:xfrm>
            <a:off x="457200" y="6481890"/>
            <a:ext cx="4260056" cy="300831"/>
          </a:xfrm>
        </p:spPr>
        <p:txBody>
          <a:bodyPr/>
          <a:lstStyle/>
          <a:p>
            <a:endParaRPr lang="el-GR"/>
          </a:p>
        </p:txBody>
      </p:sp>
      <p:sp>
        <p:nvSpPr>
          <p:cNvPr id="4" name="3 - Θέση αριθμού διαφάνειας"/>
          <p:cNvSpPr>
            <a:spLocks noGrp="1"/>
          </p:cNvSpPr>
          <p:nvPr>
            <p:ph type="sldNum" sz="quarter" idx="12"/>
          </p:nvPr>
        </p:nvSpPr>
        <p:spPr>
          <a:xfrm>
            <a:off x="7589520" y="6480969"/>
            <a:ext cx="502920" cy="301752"/>
          </a:xfrm>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Περιεχόμενο με λεζάντα">
    <p:bg>
      <p:bgRef idx="1002">
        <a:schemeClr val="bg2"/>
      </p:bgRef>
    </p:bg>
    <p:spTree>
      <p:nvGrpSpPr>
        <p:cNvPr id="1" name=""/>
        <p:cNvGrpSpPr/>
        <p:nvPr/>
      </p:nvGrpSpPr>
      <p:grpSpPr>
        <a:xfrm>
          <a:off x="0" y="0"/>
          <a:ext cx="0" cy="0"/>
          <a:chOff x="0" y="0"/>
          <a:chExt cx="0" cy="0"/>
        </a:xfrm>
      </p:grpSpPr>
      <p:sp>
        <p:nvSpPr>
          <p:cNvPr id="2" name="1 - Τίτλος"/>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l-GR" smtClean="0"/>
              <a:t>Kλικ για επεξεργασία του τίτλου</a:t>
            </a:r>
            <a:endParaRPr kumimoji="0" lang="en-US"/>
          </a:p>
        </p:txBody>
      </p:sp>
      <p:sp>
        <p:nvSpPr>
          <p:cNvPr id="3" name="2 - Θέση κειμένου"/>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l-GR" smtClean="0"/>
              <a:t>Kλικ για επεξεργασία των στυλ του υποδείγματος</a:t>
            </a:r>
          </a:p>
        </p:txBody>
      </p:sp>
      <p:sp>
        <p:nvSpPr>
          <p:cNvPr id="4" name="3 - Θέση περιεχομένου"/>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5" name="4 - Θέση ημερομηνίας"/>
          <p:cNvSpPr>
            <a:spLocks noGrp="1"/>
          </p:cNvSpPr>
          <p:nvPr>
            <p:ph type="dt" sz="half" idx="10"/>
          </p:nvPr>
        </p:nvSpPr>
        <p:spPr>
          <a:xfrm>
            <a:off x="6278976" y="6556248"/>
            <a:ext cx="2133600" cy="301752"/>
          </a:xfrm>
        </p:spPr>
        <p:txBody>
          <a:bodyPr/>
          <a:lstStyle>
            <a:lvl1pPr>
              <a:defRPr sz="900"/>
            </a:lvl1pPr>
          </a:lstStyle>
          <a:p>
            <a:fld id="{E3214F00-202C-4FC1-B913-5A8100F7EED0}" type="datetimeFigureOut">
              <a:rPr lang="el-GR" smtClean="0"/>
              <a:pPr/>
              <a:t>22/5/2017</a:t>
            </a:fld>
            <a:endParaRPr lang="el-GR"/>
          </a:p>
        </p:txBody>
      </p:sp>
      <p:sp>
        <p:nvSpPr>
          <p:cNvPr id="6" name="5 - Θέση υποσέλιδου"/>
          <p:cNvSpPr>
            <a:spLocks noGrp="1"/>
          </p:cNvSpPr>
          <p:nvPr>
            <p:ph type="ftr" sz="quarter" idx="11"/>
          </p:nvPr>
        </p:nvSpPr>
        <p:spPr>
          <a:xfrm>
            <a:off x="1135856" y="6556248"/>
            <a:ext cx="5143120" cy="301752"/>
          </a:xfrm>
        </p:spPr>
        <p:txBody>
          <a:bodyPr/>
          <a:lstStyle>
            <a:lvl1pPr>
              <a:defRPr sz="900"/>
            </a:lvl1pPr>
          </a:lstStyle>
          <a:p>
            <a:endParaRPr lang="el-GR"/>
          </a:p>
        </p:txBody>
      </p:sp>
      <p:sp>
        <p:nvSpPr>
          <p:cNvPr id="7" name="6 - Θέση αριθμού διαφάνειας"/>
          <p:cNvSpPr>
            <a:spLocks noGrp="1"/>
          </p:cNvSpPr>
          <p:nvPr>
            <p:ph type="sldNum" sz="quarter" idx="12"/>
          </p:nvPr>
        </p:nvSpPr>
        <p:spPr>
          <a:xfrm>
            <a:off x="8410576" y="6556248"/>
            <a:ext cx="502920" cy="301752"/>
          </a:xfrm>
        </p:spPr>
        <p:txBody>
          <a:bodyPr/>
          <a:lstStyle>
            <a:lvl1pPr>
              <a:defRPr sz="900"/>
            </a:lvl1pPr>
          </a:lstStyle>
          <a:p>
            <a:fld id="{AF1FFB62-F3EE-43F7-926A-4CB7BA12DA80}" type="slidenum">
              <a:rPr lang="el-GR" smtClean="0"/>
              <a:pPr/>
              <a:t>‹#›</a:t>
            </a:fld>
            <a:endParaRPr lang="el-GR"/>
          </a:p>
        </p:txBody>
      </p:sp>
    </p:spTree>
  </p:cSld>
  <p:clrMapOvr>
    <a:overrideClrMapping bg1="dk1" tx1="lt1" bg2="dk2" tx2="lt2" accent1="accent1" accent2="accent2" accent3="accent3" accent4="accent4" accent5="accent5" accent6="accent6" hlink="hlink" folHlink="folHlink"/>
  </p:clrMapOvr>
  <p:transition spd="med">
    <p:dissolv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Εικόνα με λεζάντα">
    <p:bg>
      <p:bgRef idx="1002">
        <a:schemeClr val="bg1"/>
      </p:bgRef>
    </p:bg>
    <p:spTree>
      <p:nvGrpSpPr>
        <p:cNvPr id="1" name=""/>
        <p:cNvGrpSpPr/>
        <p:nvPr/>
      </p:nvGrpSpPr>
      <p:grpSpPr>
        <a:xfrm>
          <a:off x="0" y="0"/>
          <a:ext cx="0" cy="0"/>
          <a:chOff x="0" y="0"/>
          <a:chExt cx="0" cy="0"/>
        </a:xfrm>
      </p:grpSpPr>
      <p:sp>
        <p:nvSpPr>
          <p:cNvPr id="2" name="1 - Τίτλος"/>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l-GR" smtClean="0"/>
              <a:t>Kλικ για επεξεργασία του τίτλου</a:t>
            </a:r>
            <a:endParaRPr kumimoji="0" lang="en-US"/>
          </a:p>
        </p:txBody>
      </p:sp>
      <p:sp>
        <p:nvSpPr>
          <p:cNvPr id="3" name="2 - Θέση εικόνας"/>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l-GR" smtClean="0"/>
              <a:t>Κάντε κλικ στο εικονίδιο για να προσθέσετε μια εικόνα</a:t>
            </a:r>
            <a:endParaRPr kumimoji="0" lang="en-US" dirty="0"/>
          </a:p>
        </p:txBody>
      </p:sp>
      <p:sp>
        <p:nvSpPr>
          <p:cNvPr id="4" name="3 - Θέση κειμένου"/>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l-GR" smtClean="0"/>
              <a:t>Kλικ για επεξεργασία των στυλ του υποδείγματος</a:t>
            </a:r>
          </a:p>
        </p:txBody>
      </p:sp>
      <p:sp>
        <p:nvSpPr>
          <p:cNvPr id="5" name="4 - Θέση ημερομηνίας"/>
          <p:cNvSpPr>
            <a:spLocks noGrp="1"/>
          </p:cNvSpPr>
          <p:nvPr>
            <p:ph type="dt" sz="half" idx="10"/>
          </p:nvPr>
        </p:nvSpPr>
        <p:spPr>
          <a:xfrm>
            <a:off x="6108192" y="6556248"/>
            <a:ext cx="2103120" cy="301752"/>
          </a:xfrm>
        </p:spPr>
        <p:txBody>
          <a:bodyPr/>
          <a:lstStyle>
            <a:lvl1pPr>
              <a:defRPr sz="900"/>
            </a:lvl1pPr>
          </a:lstStyle>
          <a:p>
            <a:fld id="{F8CFA630-13BB-46C4-BD44-B2C5F9B66074}" type="datetimeFigureOut">
              <a:rPr lang="en-US" smtClean="0"/>
              <a:pPr/>
              <a:t>5/22/2017</a:t>
            </a:fld>
            <a:endParaRPr lang="en-US"/>
          </a:p>
        </p:txBody>
      </p:sp>
      <p:sp>
        <p:nvSpPr>
          <p:cNvPr id="6" name="5 - Θέση υποσέλιδου"/>
          <p:cNvSpPr>
            <a:spLocks noGrp="1"/>
          </p:cNvSpPr>
          <p:nvPr>
            <p:ph type="ftr" sz="quarter" idx="11"/>
          </p:nvPr>
        </p:nvSpPr>
        <p:spPr>
          <a:xfrm>
            <a:off x="1170432" y="6557169"/>
            <a:ext cx="4948072" cy="301752"/>
          </a:xfrm>
        </p:spPr>
        <p:txBody>
          <a:bodyPr/>
          <a:lstStyle>
            <a:lvl1pPr>
              <a:defRPr sz="900"/>
            </a:lvl1pPr>
          </a:lstStyle>
          <a:p>
            <a:endParaRPr kumimoji="0" lang="en-US"/>
          </a:p>
        </p:txBody>
      </p:sp>
      <p:sp>
        <p:nvSpPr>
          <p:cNvPr id="7" name="6 - Θέση αριθμού διαφάνειας"/>
          <p:cNvSpPr>
            <a:spLocks noGrp="1"/>
          </p:cNvSpPr>
          <p:nvPr>
            <p:ph type="sldNum" sz="quarter" idx="12"/>
          </p:nvPr>
        </p:nvSpPr>
        <p:spPr>
          <a:xfrm>
            <a:off x="8217192" y="6556248"/>
            <a:ext cx="365760" cy="301752"/>
          </a:xfrm>
        </p:spPr>
        <p:txBody>
          <a:bodyPr/>
          <a:lstStyle>
            <a:lvl1pPr algn="ctr">
              <a:defRPr sz="900"/>
            </a:lvl1pPr>
          </a:lstStyle>
          <a:p>
            <a:fld id="{BC5217A8-0E06-4059-AC45-433E2E67A85D}"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transition spd="med">
    <p:dissolv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kumimoji="0" lang="el-GR" smtClean="0"/>
              <a:t>Kλικ για επεξεργασία του τίτλου</a:t>
            </a:r>
            <a:endParaRPr kumimoji="0" lang="en-US"/>
          </a:p>
        </p:txBody>
      </p:sp>
      <p:sp>
        <p:nvSpPr>
          <p:cNvPr id="3" name="2 - Θέση κατακόρυφου κειμένου"/>
          <p:cNvSpPr>
            <a:spLocks noGrp="1"/>
          </p:cNvSpPr>
          <p:nvPr>
            <p:ph type="body" orient="vert" idx="1"/>
          </p:nvPr>
        </p:nvSpPr>
        <p:spPr/>
        <p:txBody>
          <a:bodyPr vert="eaVert"/>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3 - Θέση ημερομηνίας"/>
          <p:cNvSpPr>
            <a:spLocks noGrp="1"/>
          </p:cNvSpPr>
          <p:nvPr>
            <p:ph type="dt" sz="half" idx="10"/>
          </p:nvPr>
        </p:nvSpPr>
        <p:spPr/>
        <p:txBody>
          <a:bodyPr/>
          <a:lstStyle/>
          <a:p>
            <a:fld id="{E3214F00-202C-4FC1-B913-5A8100F7EED0}" type="datetimeFigureOut">
              <a:rPr lang="el-GR" smtClean="0"/>
              <a:pPr/>
              <a:t>22/5/2017</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1 - Κατακόρυφος τίτλος"/>
          <p:cNvSpPr>
            <a:spLocks noGrp="1"/>
          </p:cNvSpPr>
          <p:nvPr>
            <p:ph type="title" orient="vert"/>
          </p:nvPr>
        </p:nvSpPr>
        <p:spPr>
          <a:xfrm>
            <a:off x="6781800" y="381000"/>
            <a:ext cx="1905000" cy="5486400"/>
          </a:xfrm>
        </p:spPr>
        <p:txBody>
          <a:bodyPr vert="eaVert"/>
          <a:lstStyle/>
          <a:p>
            <a:r>
              <a:rPr kumimoji="0" lang="el-GR" smtClean="0"/>
              <a:t>Kλικ για επεξεργασία του τίτλου</a:t>
            </a:r>
            <a:endParaRPr kumimoji="0" lang="en-US"/>
          </a:p>
        </p:txBody>
      </p:sp>
      <p:sp>
        <p:nvSpPr>
          <p:cNvPr id="3" name="2 - Θέση κατακόρυφου κειμένου"/>
          <p:cNvSpPr>
            <a:spLocks noGrp="1"/>
          </p:cNvSpPr>
          <p:nvPr>
            <p:ph type="body" orient="vert" idx="1"/>
          </p:nvPr>
        </p:nvSpPr>
        <p:spPr>
          <a:xfrm>
            <a:off x="457200" y="381000"/>
            <a:ext cx="6248400" cy="5486400"/>
          </a:xfrm>
        </p:spPr>
        <p:txBody>
          <a:bodyPr vert="eaVert"/>
          <a:lstStyle/>
          <a:p>
            <a:pPr lvl="0" eaLnBrk="1" latinLnBrk="0" hangingPunct="1"/>
            <a:r>
              <a:rPr lang="el-GR" smtClean="0"/>
              <a:t>Kλικ για επεξεργασία των στυλ του υποδείγματος</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3 - Θέση ημερομηνίας"/>
          <p:cNvSpPr>
            <a:spLocks noGrp="1"/>
          </p:cNvSpPr>
          <p:nvPr>
            <p:ph type="dt" sz="half" idx="10"/>
          </p:nvPr>
        </p:nvSpPr>
        <p:spPr/>
        <p:txBody>
          <a:bodyPr/>
          <a:lstStyle/>
          <a:p>
            <a:fld id="{E3214F00-202C-4FC1-B913-5A8100F7EED0}" type="datetimeFigureOut">
              <a:rPr lang="el-GR" smtClean="0"/>
              <a:pPr/>
              <a:t>22/5/2017</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AF1FFB62-F3EE-43F7-926A-4CB7BA12DA80}" type="slidenum">
              <a:rPr lang="el-GR" smtClean="0"/>
              <a:pPr/>
              <a:t>‹#›</a:t>
            </a:fld>
            <a:endParaRPr lang="el-GR"/>
          </a:p>
        </p:txBody>
      </p:sp>
    </p:spTree>
  </p:cSld>
  <p:clrMapOvr>
    <a:masterClrMapping/>
  </p:clrMapOvr>
  <p:transition spd="med">
    <p:dissolv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 Ορθογώνιο τρίγωνο"/>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7 - Ευθεία γραμμή σύνδεσης"/>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 Ευθεία γραμμή σύνδεσης"/>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 Θέση τίτλου"/>
          <p:cNvSpPr>
            <a:spLocks noGrp="1"/>
          </p:cNvSpPr>
          <p:nvPr>
            <p:ph type="title"/>
          </p:nvPr>
        </p:nvSpPr>
        <p:spPr>
          <a:xfrm>
            <a:off x="457200" y="267494"/>
            <a:ext cx="8229600" cy="1399032"/>
          </a:xfrm>
          <a:prstGeom prst="rect">
            <a:avLst/>
          </a:prstGeom>
        </p:spPr>
        <p:txBody>
          <a:bodyPr vert="horz" anchor="ctr">
            <a:normAutofit/>
          </a:bodyPr>
          <a:lstStyle/>
          <a:p>
            <a:r>
              <a:rPr kumimoji="0" lang="el-GR" smtClean="0"/>
              <a:t>Kλικ για επεξεργασία του τίτλου</a:t>
            </a:r>
            <a:endParaRPr kumimoji="0" lang="en-US"/>
          </a:p>
        </p:txBody>
      </p:sp>
      <p:sp>
        <p:nvSpPr>
          <p:cNvPr id="13" name="12 - Θέση κειμένου"/>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l-GR" smtClean="0"/>
              <a:t>Kλικ για επεξεργασία των στυλ του υποδείγματος</a:t>
            </a:r>
          </a:p>
          <a:p>
            <a:pPr lvl="1" eaLnBrk="1" latinLnBrk="0" hangingPunct="1"/>
            <a:r>
              <a:rPr kumimoji="0" lang="el-GR" smtClean="0"/>
              <a:t>Δεύτερου επιπέδου</a:t>
            </a:r>
          </a:p>
          <a:p>
            <a:pPr lvl="2" eaLnBrk="1" latinLnBrk="0" hangingPunct="1"/>
            <a:r>
              <a:rPr kumimoji="0" lang="el-GR" smtClean="0"/>
              <a:t>Τρίτου επιπέδου</a:t>
            </a:r>
          </a:p>
          <a:p>
            <a:pPr lvl="3" eaLnBrk="1" latinLnBrk="0" hangingPunct="1"/>
            <a:r>
              <a:rPr kumimoji="0" lang="el-GR" smtClean="0"/>
              <a:t>Τέταρτου επιπέδου</a:t>
            </a:r>
          </a:p>
          <a:p>
            <a:pPr lvl="4" eaLnBrk="1" latinLnBrk="0" hangingPunct="1"/>
            <a:r>
              <a:rPr kumimoji="0" lang="el-GR" smtClean="0"/>
              <a:t>Πέμπτου επιπέδου</a:t>
            </a:r>
            <a:endParaRPr kumimoji="0" lang="en-US"/>
          </a:p>
        </p:txBody>
      </p:sp>
      <p:sp>
        <p:nvSpPr>
          <p:cNvPr id="14" name="13 - Θέση ημερομηνίας"/>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E3214F00-202C-4FC1-B913-5A8100F7EED0}" type="datetimeFigureOut">
              <a:rPr lang="el-GR" smtClean="0"/>
              <a:pPr/>
              <a:t>22/5/2017</a:t>
            </a:fld>
            <a:endParaRPr lang="el-GR"/>
          </a:p>
        </p:txBody>
      </p:sp>
      <p:sp>
        <p:nvSpPr>
          <p:cNvPr id="3" name="2 - Θέση υποσέλιδου"/>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l-GR"/>
          </a:p>
        </p:txBody>
      </p:sp>
      <p:sp>
        <p:nvSpPr>
          <p:cNvPr id="23" name="22 - Θέση αριθμού διαφάνειας"/>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AF1FFB62-F3EE-43F7-926A-4CB7BA12DA80}" type="slidenum">
              <a:rPr lang="el-GR" smtClean="0"/>
              <a:pPr/>
              <a:t>‹#›</a:t>
            </a:fld>
            <a:endParaRPr lang="el-GR"/>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dissolve/>
  </p:transition>
  <p:timing>
    <p:tnLst>
      <p:par>
        <p:cTn id="1" dur="indefinite" restart="never" nodeType="tmRoot"/>
      </p:par>
    </p:tnLst>
  </p:timing>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ctrTitle"/>
          </p:nvPr>
        </p:nvSpPr>
        <p:spPr>
          <a:xfrm>
            <a:off x="251520" y="188640"/>
            <a:ext cx="7992888" cy="2304257"/>
          </a:xfrm>
        </p:spPr>
        <p:txBody>
          <a:bodyPr/>
          <a:lstStyle/>
          <a:p>
            <a:r>
              <a:rPr lang="el-GR" sz="4000" i="1" dirty="0" smtClean="0">
                <a:solidFill>
                  <a:schemeClr val="tx1">
                    <a:lumMod val="65000"/>
                    <a:lumOff val="35000"/>
                  </a:schemeClr>
                </a:solidFill>
              </a:rPr>
              <a:t>Νικητής του </a:t>
            </a:r>
            <a:r>
              <a:rPr lang="en-US" sz="4000" i="1" dirty="0" smtClean="0">
                <a:solidFill>
                  <a:schemeClr val="tx1">
                    <a:lumMod val="65000"/>
                    <a:lumOff val="35000"/>
                  </a:schemeClr>
                </a:solidFill>
              </a:rPr>
              <a:t>The Voice:</a:t>
            </a:r>
            <a:r>
              <a:rPr lang="el-GR" sz="4000" i="1" dirty="0" smtClean="0">
                <a:solidFill>
                  <a:schemeClr val="tx1">
                    <a:lumMod val="65000"/>
                    <a:lumOff val="35000"/>
                  </a:schemeClr>
                </a:solidFill>
              </a:rPr>
              <a:t> πραγματικός νικητής ή πυροτέχνημα;</a:t>
            </a:r>
            <a:endParaRPr lang="el-GR" sz="4000" i="1" dirty="0">
              <a:solidFill>
                <a:schemeClr val="tx1">
                  <a:lumMod val="65000"/>
                  <a:lumOff val="35000"/>
                </a:schemeClr>
              </a:solidFill>
            </a:endParaRPr>
          </a:p>
        </p:txBody>
      </p:sp>
      <p:sp>
        <p:nvSpPr>
          <p:cNvPr id="3" name="2 - Υπότιτλος"/>
          <p:cNvSpPr>
            <a:spLocks noGrp="1"/>
          </p:cNvSpPr>
          <p:nvPr>
            <p:ph type="subTitle" idx="1"/>
          </p:nvPr>
        </p:nvSpPr>
        <p:spPr>
          <a:xfrm>
            <a:off x="539552" y="3861048"/>
            <a:ext cx="5256584" cy="1897608"/>
          </a:xfrm>
        </p:spPr>
        <p:txBody>
          <a:bodyPr>
            <a:normAutofit fontScale="92500"/>
          </a:bodyPr>
          <a:lstStyle/>
          <a:p>
            <a:pPr algn="l"/>
            <a:r>
              <a:rPr lang="el-GR" b="1" dirty="0" smtClean="0">
                <a:solidFill>
                  <a:schemeClr val="bg1"/>
                </a:solidFill>
              </a:rPr>
              <a:t>Μπούντο Ειρήνη </a:t>
            </a:r>
          </a:p>
          <a:p>
            <a:pPr algn="l"/>
            <a:r>
              <a:rPr lang="el-GR" b="1" dirty="0" smtClean="0">
                <a:solidFill>
                  <a:schemeClr val="bg1"/>
                </a:solidFill>
              </a:rPr>
              <a:t>Παπαδόπουλος Παναγιώτης</a:t>
            </a:r>
          </a:p>
          <a:p>
            <a:pPr algn="l"/>
            <a:r>
              <a:rPr lang="el-GR" b="1" dirty="0" smtClean="0">
                <a:solidFill>
                  <a:schemeClr val="bg1"/>
                </a:solidFill>
              </a:rPr>
              <a:t>Κασίμης Κωνσταντίνος</a:t>
            </a:r>
          </a:p>
          <a:p>
            <a:pPr algn="l"/>
            <a:r>
              <a:rPr lang="el-GR" b="1" dirty="0" smtClean="0">
                <a:solidFill>
                  <a:schemeClr val="bg1"/>
                </a:solidFill>
              </a:rPr>
              <a:t>Κάββαλος Στυλιανός</a:t>
            </a:r>
          </a:p>
          <a:p>
            <a:pPr algn="l"/>
            <a:endParaRPr lang="el-GR" dirty="0" smtClean="0"/>
          </a:p>
          <a:p>
            <a:pPr algn="l"/>
            <a:endParaRPr lang="el-GR" dirty="0" smtClean="0"/>
          </a:p>
          <a:p>
            <a:pPr algn="l"/>
            <a:endParaRPr lang="el-GR" dirty="0"/>
          </a:p>
        </p:txBody>
      </p:sp>
    </p:spTree>
  </p:cSld>
  <p:clrMapOvr>
    <a:masterClrMapping/>
  </p:clrMapOvr>
  <p:transition spd="med">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esktop\bTuW6XzQ_400x400.jpeg"/>
          <p:cNvPicPr>
            <a:picLocks noGrp="1" noChangeAspect="1" noChangeArrowheads="1"/>
          </p:cNvPicPr>
          <p:nvPr>
            <p:ph idx="1"/>
          </p:nvPr>
        </p:nvPicPr>
        <p:blipFill>
          <a:blip r:embed="rId2" cstate="print"/>
          <a:srcRect/>
          <a:stretch>
            <a:fillRect/>
          </a:stretch>
        </p:blipFill>
        <p:spPr bwMode="auto">
          <a:xfrm>
            <a:off x="5868144" y="1484784"/>
            <a:ext cx="3059832" cy="282999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27" name="Picture 3" descr="C:\Users\Admin\Desktop\images.jpeg"/>
          <p:cNvPicPr>
            <a:picLocks noChangeAspect="1" noChangeArrowheads="1"/>
          </p:cNvPicPr>
          <p:nvPr/>
        </p:nvPicPr>
        <p:blipFill>
          <a:blip r:embed="rId3" cstate="print"/>
          <a:srcRect/>
          <a:stretch>
            <a:fillRect/>
          </a:stretch>
        </p:blipFill>
        <p:spPr bwMode="auto">
          <a:xfrm>
            <a:off x="179512" y="2780928"/>
            <a:ext cx="3240360" cy="280831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8" name="7 - TextBox"/>
          <p:cNvSpPr txBox="1"/>
          <p:nvPr/>
        </p:nvSpPr>
        <p:spPr>
          <a:xfrm>
            <a:off x="0" y="1988840"/>
            <a:ext cx="5184576" cy="400110"/>
          </a:xfrm>
          <a:prstGeom prst="rect">
            <a:avLst/>
          </a:prstGeom>
          <a:noFill/>
        </p:spPr>
        <p:txBody>
          <a:bodyPr wrap="square" rtlCol="0">
            <a:spAutoFit/>
          </a:bodyPr>
          <a:lstStyle/>
          <a:p>
            <a:r>
              <a:rPr lang="el-GR" sz="2000" b="1" dirty="0" smtClean="0"/>
              <a:t> Πανεπιστήμιο Κρήτης</a:t>
            </a:r>
          </a:p>
        </p:txBody>
      </p:sp>
      <p:sp>
        <p:nvSpPr>
          <p:cNvPr id="9" name="8 - TextBox"/>
          <p:cNvSpPr txBox="1"/>
          <p:nvPr/>
        </p:nvSpPr>
        <p:spPr>
          <a:xfrm>
            <a:off x="4247456" y="580618"/>
            <a:ext cx="4896544" cy="400110"/>
          </a:xfrm>
          <a:prstGeom prst="rect">
            <a:avLst/>
          </a:prstGeom>
          <a:noFill/>
        </p:spPr>
        <p:txBody>
          <a:bodyPr wrap="square" rtlCol="0">
            <a:spAutoFit/>
          </a:bodyPr>
          <a:lstStyle/>
          <a:p>
            <a:pPr algn="r"/>
            <a:r>
              <a:rPr lang="en-US" sz="2000" b="1" dirty="0" smtClean="0"/>
              <a:t>Public opinion research unit</a:t>
            </a:r>
            <a:endParaRPr lang="el-GR" sz="2000" b="1" dirty="0" smtClean="0"/>
          </a:p>
        </p:txBody>
      </p:sp>
    </p:spTree>
  </p:cSld>
  <p:clrMapOvr>
    <a:masterClrMapping/>
  </p:clrMapOvr>
  <p:transition spd="med">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 Ορθογώνιο"/>
          <p:cNvSpPr/>
          <p:nvPr/>
        </p:nvSpPr>
        <p:spPr>
          <a:xfrm>
            <a:off x="467544" y="764704"/>
            <a:ext cx="8280920" cy="2646878"/>
          </a:xfrm>
          <a:prstGeom prst="rect">
            <a:avLst/>
          </a:prstGeom>
        </p:spPr>
        <p:txBody>
          <a:bodyPr wrap="square">
            <a:spAutoFit/>
          </a:bodyPr>
          <a:lstStyle/>
          <a:p>
            <a:pPr algn="ctr"/>
            <a:r>
              <a:rPr lang="el-GR" sz="4400" u="sng" dirty="0" smtClean="0"/>
              <a:t>Στόχος Έρευνας:</a:t>
            </a:r>
          </a:p>
          <a:p>
            <a:endParaRPr lang="el-GR" sz="4400" u="sng" dirty="0" smtClean="0"/>
          </a:p>
          <a:p>
            <a:pPr algn="ctr"/>
            <a:r>
              <a:rPr lang="el-GR" dirty="0" smtClean="0"/>
              <a:t> </a:t>
            </a:r>
            <a:r>
              <a:rPr lang="el-GR" sz="2600" dirty="0" smtClean="0"/>
              <a:t>Ποια είναι τα χαρακτηριστικά που καθορίζουν τον νικητή του </a:t>
            </a:r>
            <a:r>
              <a:rPr lang="en-US" sz="2600" dirty="0" smtClean="0"/>
              <a:t>The Voice </a:t>
            </a:r>
            <a:r>
              <a:rPr lang="el-GR" sz="2600" dirty="0" smtClean="0"/>
              <a:t>και ποιος είναι ο λόγος που δεν κάνει ποτέ καριέρα.</a:t>
            </a:r>
            <a:endParaRPr lang="el-GR" sz="2600" u="sng" dirty="0" smtClean="0"/>
          </a:p>
        </p:txBody>
      </p:sp>
      <p:sp>
        <p:nvSpPr>
          <p:cNvPr id="5" name="4 - TextBox"/>
          <p:cNvSpPr txBox="1"/>
          <p:nvPr/>
        </p:nvSpPr>
        <p:spPr>
          <a:xfrm>
            <a:off x="611560" y="4149080"/>
            <a:ext cx="7704856" cy="2308324"/>
          </a:xfrm>
          <a:prstGeom prst="rect">
            <a:avLst/>
          </a:prstGeom>
          <a:noFill/>
        </p:spPr>
        <p:txBody>
          <a:bodyPr wrap="square" rtlCol="0">
            <a:spAutoFit/>
          </a:bodyPr>
          <a:lstStyle/>
          <a:p>
            <a:pPr>
              <a:buSzPct val="150000"/>
              <a:buFont typeface="Wingdings" pitchFamily="2" charset="2"/>
              <a:buChar char="Ø"/>
            </a:pPr>
            <a:r>
              <a:rPr lang="el-GR" u="sng" dirty="0" smtClean="0"/>
              <a:t>Ημερομηνίες Δειγματοληψίας</a:t>
            </a:r>
            <a:r>
              <a:rPr lang="el-GR" dirty="0" smtClean="0"/>
              <a:t> : 20-23/3/2017</a:t>
            </a:r>
          </a:p>
          <a:p>
            <a:pPr>
              <a:buSzPct val="150000"/>
              <a:buFont typeface="Arial" pitchFamily="34" charset="0"/>
              <a:buChar char="•"/>
            </a:pPr>
            <a:endParaRPr lang="el-GR" dirty="0" smtClean="0"/>
          </a:p>
          <a:p>
            <a:pPr>
              <a:buSzPct val="150000"/>
              <a:buFont typeface="Arial" pitchFamily="34" charset="0"/>
              <a:buChar char="•"/>
            </a:pPr>
            <a:endParaRPr lang="el-GR" dirty="0" smtClean="0"/>
          </a:p>
          <a:p>
            <a:pPr>
              <a:buSzPct val="150000"/>
              <a:buFont typeface="Wingdings" pitchFamily="2" charset="2"/>
              <a:buChar char="Ø"/>
            </a:pPr>
            <a:r>
              <a:rPr lang="el-GR" dirty="0" smtClean="0"/>
              <a:t>Η διαδικασία συγκέντρωσης των ερωτηματολογίων πραγματοποιήθηκε στις εγκαταστάσεις της  μονάδας ερευνών αγοράς και κοινής γνώμης του Πανεπιστημίου Κρήτης. Η έρευνα αυτή διεξήχθη τηλεφωνικώς  και έλαβαν μέρος μόνο άτομα που διαμένουν στην πόλη της Αθήνας.</a:t>
            </a:r>
          </a:p>
        </p:txBody>
      </p:sp>
    </p:spTree>
  </p:cSld>
  <p:clrMapOvr>
    <a:masterClrMapping/>
  </p:clrMapOvr>
  <p:transition spd="med">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pPr algn="ctr"/>
            <a:r>
              <a:rPr lang="el-GR" sz="6000" b="1" u="sng" dirty="0" smtClean="0">
                <a:solidFill>
                  <a:schemeClr val="tx1"/>
                </a:solidFill>
              </a:rPr>
              <a:t>Μεθοδολογία</a:t>
            </a:r>
            <a:r>
              <a:rPr lang="el-GR" dirty="0" smtClean="0"/>
              <a:t> </a:t>
            </a:r>
            <a:endParaRPr lang="el-GR" dirty="0"/>
          </a:p>
        </p:txBody>
      </p:sp>
      <p:sp>
        <p:nvSpPr>
          <p:cNvPr id="3" name="2 - Θέση περιεχομένου"/>
          <p:cNvSpPr>
            <a:spLocks noGrp="1"/>
          </p:cNvSpPr>
          <p:nvPr>
            <p:ph idx="1"/>
          </p:nvPr>
        </p:nvSpPr>
        <p:spPr>
          <a:xfrm>
            <a:off x="467544" y="1882808"/>
            <a:ext cx="8219256" cy="4975192"/>
          </a:xfrm>
        </p:spPr>
        <p:txBody>
          <a:bodyPr>
            <a:normAutofit fontScale="77500" lnSpcReduction="20000"/>
          </a:bodyPr>
          <a:lstStyle/>
          <a:p>
            <a:pPr marL="612000" indent="0">
              <a:buNone/>
            </a:pPr>
            <a:r>
              <a:rPr lang="el-GR" b="1" dirty="0" smtClean="0">
                <a:solidFill>
                  <a:schemeClr val="accent5">
                    <a:lumMod val="60000"/>
                    <a:lumOff val="40000"/>
                  </a:schemeClr>
                </a:solidFill>
              </a:rPr>
              <a:t>Σε πρώτο στάδιο το δείγμα αναλύθηκε στο σύνολο του, ενώ στη συνέχεια έγινε συγκριτική ανάλυση.</a:t>
            </a:r>
          </a:p>
          <a:p>
            <a:pPr marL="612000" indent="0"/>
            <a:r>
              <a:rPr lang="el-GR" dirty="0" smtClean="0"/>
              <a:t>Όλα τα διαγράμματα που παρουσιάζονται στην παρούσα εργασία, έχουν δημιουργηθεί, αφού έγινε στάθμιση του δείγματος ανά ηλικιακή ομάδα, σύμφωνα πάντα, με τα πραγματικά δημογραφικά στοιχεία που λήφθηκαν από την ΕΛΣΤΑΤ και αφορούν την περιοχή της Αθήνας. </a:t>
            </a:r>
          </a:p>
          <a:p>
            <a:pPr marL="612000" indent="0"/>
            <a:r>
              <a:rPr lang="el-GR" dirty="0" smtClean="0"/>
              <a:t> Αρχικά παρουσιάζονται κάποια γενικά στοιχεία του δείγματος.</a:t>
            </a:r>
          </a:p>
          <a:p>
            <a:pPr marL="612000" indent="0"/>
            <a:r>
              <a:rPr lang="el-GR" dirty="0" smtClean="0"/>
              <a:t>Έπειτα γίνεται συγκριτική ανάλυση, μεταξύ των ατόμων που έχουν ψηφίσει και εκείνων που δεν έχουν ψηφίσει.</a:t>
            </a:r>
          </a:p>
          <a:p>
            <a:pPr marL="612000" indent="0"/>
            <a:r>
              <a:rPr lang="el-GR" dirty="0" smtClean="0"/>
              <a:t>Τέλος παραθέτουμε τα συμπεράσματά μας.</a:t>
            </a:r>
          </a:p>
        </p:txBody>
      </p:sp>
    </p:spTree>
  </p:cSld>
  <p:clrMapOvr>
    <a:masterClrMapping/>
  </p:clrMapOvr>
  <p:transition spd="med">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 Θέση περιεχομένου"/>
          <p:cNvGraphicFramePr>
            <a:graphicFrameLocks noGrp="1"/>
          </p:cNvGraphicFramePr>
          <p:nvPr>
            <p:ph idx="1"/>
          </p:nvPr>
        </p:nvGraphicFramePr>
        <p:xfrm>
          <a:off x="0" y="0"/>
          <a:ext cx="9144000" cy="6669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 Έλλειψη"/>
          <p:cNvSpPr/>
          <p:nvPr/>
        </p:nvSpPr>
        <p:spPr>
          <a:xfrm>
            <a:off x="1331640" y="2060848"/>
            <a:ext cx="2304256" cy="2304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2000" dirty="0" smtClean="0"/>
              <a:t>200 άτομα δείγμα</a:t>
            </a:r>
          </a:p>
        </p:txBody>
      </p:sp>
    </p:spTree>
  </p:cSld>
  <p:clrMapOvr>
    <a:masterClrMapping/>
  </p:clrMapOvr>
  <p:transition spd="med">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324544" y="0"/>
            <a:ext cx="9468544" cy="1152128"/>
          </a:xfrm>
        </p:spPr>
        <p:txBody>
          <a:bodyPr>
            <a:noAutofit/>
          </a:bodyPr>
          <a:lstStyle/>
          <a:p>
            <a:pPr algn="ctr"/>
            <a:r>
              <a:rPr lang="el-GR" sz="4500" b="1" u="sng" dirty="0" smtClean="0">
                <a:solidFill>
                  <a:schemeClr val="tx2">
                    <a:lumMod val="65000"/>
                    <a:lumOff val="35000"/>
                  </a:schemeClr>
                </a:solidFill>
              </a:rPr>
              <a:t>Χαρακτηριστικά Δείγματος</a:t>
            </a:r>
            <a:endParaRPr lang="el-GR" sz="4500" b="1" u="sng" dirty="0">
              <a:solidFill>
                <a:schemeClr val="tx2">
                  <a:lumMod val="65000"/>
                  <a:lumOff val="35000"/>
                </a:schemeClr>
              </a:solidFill>
            </a:endParaRPr>
          </a:p>
        </p:txBody>
      </p:sp>
      <p:sp>
        <p:nvSpPr>
          <p:cNvPr id="3" name="2 - Θέση περιεχομένου"/>
          <p:cNvSpPr>
            <a:spLocks noGrp="1"/>
          </p:cNvSpPr>
          <p:nvPr>
            <p:ph idx="1"/>
          </p:nvPr>
        </p:nvSpPr>
        <p:spPr/>
        <p:txBody>
          <a:bodyPr/>
          <a:lstStyle/>
          <a:p>
            <a:endParaRPr lang="el-GR" sz="2400" u="sng" dirty="0" smtClean="0"/>
          </a:p>
          <a:p>
            <a:endParaRPr lang="el-GR" sz="2400" u="sng" dirty="0" smtClean="0"/>
          </a:p>
          <a:p>
            <a:endParaRPr lang="el-GR" sz="2400" u="sng" dirty="0" smtClean="0"/>
          </a:p>
        </p:txBody>
      </p:sp>
      <p:graphicFrame>
        <p:nvGraphicFramePr>
          <p:cNvPr id="4" name="1 - Γράφημα"/>
          <p:cNvGraphicFramePr/>
          <p:nvPr/>
        </p:nvGraphicFramePr>
        <p:xfrm>
          <a:off x="0" y="1412776"/>
          <a:ext cx="8964488" cy="4179912"/>
        </p:xfrm>
        <a:graphic>
          <a:graphicData uri="http://schemas.openxmlformats.org/drawingml/2006/chart">
            <c:chart xmlns:c="http://schemas.openxmlformats.org/drawingml/2006/chart" xmlns:r="http://schemas.openxmlformats.org/officeDocument/2006/relationships" r:id="rId2"/>
          </a:graphicData>
        </a:graphic>
      </p:graphicFrame>
      <p:sp>
        <p:nvSpPr>
          <p:cNvPr id="7" name="6 - TextBox"/>
          <p:cNvSpPr txBox="1"/>
          <p:nvPr/>
        </p:nvSpPr>
        <p:spPr>
          <a:xfrm>
            <a:off x="0" y="5877272"/>
            <a:ext cx="9144000" cy="707886"/>
          </a:xfrm>
          <a:prstGeom prst="rect">
            <a:avLst/>
          </a:prstGeom>
          <a:noFill/>
        </p:spPr>
        <p:txBody>
          <a:bodyPr wrap="square" rtlCol="0">
            <a:spAutoFit/>
          </a:bodyPr>
          <a:lstStyle/>
          <a:p>
            <a:pPr algn="ctr"/>
            <a:r>
              <a:rPr lang="el-GR" sz="2000" dirty="0" smtClean="0"/>
              <a:t>Από το παραπάνω διάγραμμα κατανοούμε ότι ως επί το πλείστον οι τηλεθεατές του </a:t>
            </a:r>
            <a:r>
              <a:rPr lang="en-US" sz="2000" dirty="0" smtClean="0"/>
              <a:t>The Voice </a:t>
            </a:r>
            <a:r>
              <a:rPr lang="el-GR" sz="2000" dirty="0" smtClean="0"/>
              <a:t>είναι γυναίκες.</a:t>
            </a:r>
            <a:endParaRPr lang="el-GR" sz="2000" dirty="0"/>
          </a:p>
        </p:txBody>
      </p:sp>
    </p:spTree>
  </p:cSld>
  <p:clrMapOvr>
    <a:masterClrMapping/>
  </p:clrMapOvr>
  <p:transition spd="med">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1 - Γράφημα"/>
          <p:cNvGraphicFramePr/>
          <p:nvPr/>
        </p:nvGraphicFramePr>
        <p:xfrm>
          <a:off x="251520" y="1700808"/>
          <a:ext cx="8640960" cy="4176464"/>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395536" y="332656"/>
            <a:ext cx="8280920" cy="861774"/>
          </a:xfrm>
          <a:prstGeom prst="rect">
            <a:avLst/>
          </a:prstGeom>
          <a:noFill/>
        </p:spPr>
        <p:txBody>
          <a:bodyPr wrap="square" rtlCol="0">
            <a:spAutoFit/>
          </a:bodyPr>
          <a:lstStyle/>
          <a:p>
            <a:pPr algn="ctr"/>
            <a:r>
              <a:rPr lang="el-GR" sz="2500" b="1" u="sng" dirty="0" smtClean="0"/>
              <a:t> Κατανομή του συνολικού δείγματος ανά ηλικιακή ομάδα.</a:t>
            </a:r>
            <a:endParaRPr lang="el-GR" sz="2500" b="1" u="sng" dirty="0"/>
          </a:p>
        </p:txBody>
      </p:sp>
      <p:sp>
        <p:nvSpPr>
          <p:cNvPr id="6" name="5 - TextBox"/>
          <p:cNvSpPr txBox="1"/>
          <p:nvPr/>
        </p:nvSpPr>
        <p:spPr>
          <a:xfrm>
            <a:off x="611560" y="6093296"/>
            <a:ext cx="7992888" cy="707886"/>
          </a:xfrm>
          <a:prstGeom prst="rect">
            <a:avLst/>
          </a:prstGeom>
          <a:noFill/>
        </p:spPr>
        <p:txBody>
          <a:bodyPr wrap="square" rtlCol="0">
            <a:spAutoFit/>
          </a:bodyPr>
          <a:lstStyle/>
          <a:p>
            <a:pPr algn="ctr"/>
            <a:r>
              <a:rPr lang="el-GR" sz="2000" dirty="0" smtClean="0"/>
              <a:t>Η πλειοψηφία των ατόμων που παρακολουθούν το </a:t>
            </a:r>
            <a:r>
              <a:rPr lang="en-US" sz="2000" dirty="0" smtClean="0"/>
              <a:t>show </a:t>
            </a:r>
            <a:r>
              <a:rPr lang="el-GR" sz="2000" dirty="0" smtClean="0"/>
              <a:t>είναι ηλικίας 26-35</a:t>
            </a:r>
            <a:r>
              <a:rPr lang="el-GR" sz="1600" dirty="0" smtClean="0"/>
              <a:t>.</a:t>
            </a:r>
            <a:endParaRPr lang="el-GR" sz="1600" dirty="0"/>
          </a:p>
        </p:txBody>
      </p:sp>
    </p:spTree>
  </p:cSld>
  <p:clrMapOvr>
    <a:masterClrMapping/>
  </p:clrMapOvr>
  <p:transition spd="med">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 Γράφημα"/>
          <p:cNvGraphicFramePr>
            <a:graphicFrameLocks noGrp="1"/>
          </p:cNvGraphicFramePr>
          <p:nvPr>
            <p:ph idx="1"/>
          </p:nvPr>
        </p:nvGraphicFramePr>
        <p:xfrm>
          <a:off x="0" y="1412776"/>
          <a:ext cx="9144000" cy="4176464"/>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611560" y="476672"/>
            <a:ext cx="7560840" cy="892552"/>
          </a:xfrm>
          <a:prstGeom prst="rect">
            <a:avLst/>
          </a:prstGeom>
          <a:noFill/>
        </p:spPr>
        <p:txBody>
          <a:bodyPr wrap="square" rtlCol="0">
            <a:spAutoFit/>
          </a:bodyPr>
          <a:lstStyle/>
          <a:p>
            <a:pPr algn="ctr"/>
            <a:r>
              <a:rPr lang="el-GR" sz="2600" b="1" u="sng" dirty="0" smtClean="0"/>
              <a:t>Συχνότητα παρακολούθησης για το σύνολο του δείγματος</a:t>
            </a:r>
            <a:endParaRPr lang="el-GR" sz="2600" b="1" u="sng" dirty="0"/>
          </a:p>
        </p:txBody>
      </p:sp>
      <p:sp>
        <p:nvSpPr>
          <p:cNvPr id="6" name="5 - TextBox"/>
          <p:cNvSpPr txBox="1"/>
          <p:nvPr/>
        </p:nvSpPr>
        <p:spPr>
          <a:xfrm>
            <a:off x="323528" y="5805264"/>
            <a:ext cx="8208912" cy="707886"/>
          </a:xfrm>
          <a:prstGeom prst="rect">
            <a:avLst/>
          </a:prstGeom>
          <a:noFill/>
        </p:spPr>
        <p:txBody>
          <a:bodyPr wrap="square" rtlCol="0">
            <a:spAutoFit/>
          </a:bodyPr>
          <a:lstStyle/>
          <a:p>
            <a:pPr algn="ctr"/>
            <a:r>
              <a:rPr lang="el-GR" sz="2000" dirty="0" smtClean="0"/>
              <a:t>Φαίνεται ότι το 36% του κοινού παρακολουθεί Λίγο το </a:t>
            </a:r>
            <a:r>
              <a:rPr lang="en-US" sz="2000" dirty="0" smtClean="0"/>
              <a:t>show</a:t>
            </a:r>
          </a:p>
          <a:p>
            <a:endParaRPr lang="el-GR" sz="2000" dirty="0"/>
          </a:p>
        </p:txBody>
      </p:sp>
    </p:spTree>
  </p:cSld>
  <p:clrMapOvr>
    <a:masterClrMapping/>
  </p:clrMapOvr>
  <p:transition spd="med">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1 - Γράφημα"/>
          <p:cNvGraphicFramePr/>
          <p:nvPr/>
        </p:nvGraphicFramePr>
        <p:xfrm>
          <a:off x="0" y="0"/>
          <a:ext cx="5364088"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10 - TextBox"/>
          <p:cNvSpPr txBox="1"/>
          <p:nvPr/>
        </p:nvSpPr>
        <p:spPr>
          <a:xfrm>
            <a:off x="395536" y="404664"/>
            <a:ext cx="8064896" cy="492443"/>
          </a:xfrm>
          <a:prstGeom prst="rect">
            <a:avLst/>
          </a:prstGeom>
          <a:noFill/>
        </p:spPr>
        <p:txBody>
          <a:bodyPr wrap="square" rtlCol="0">
            <a:spAutoFit/>
          </a:bodyPr>
          <a:lstStyle/>
          <a:p>
            <a:pPr algn="ctr"/>
            <a:r>
              <a:rPr lang="el-GR" sz="2600" b="1" u="sng" dirty="0" smtClean="0"/>
              <a:t>Συχνότητα </a:t>
            </a:r>
            <a:r>
              <a:rPr lang="el-GR" sz="2500" b="1" u="sng" dirty="0" smtClean="0"/>
              <a:t>παρακολούθησης</a:t>
            </a:r>
            <a:r>
              <a:rPr lang="el-GR" sz="2600" b="1" u="sng" dirty="0" smtClean="0"/>
              <a:t> </a:t>
            </a:r>
            <a:endParaRPr lang="el-GR" sz="2600" b="1" u="sng" dirty="0"/>
          </a:p>
        </p:txBody>
      </p:sp>
      <p:sp>
        <p:nvSpPr>
          <p:cNvPr id="13" name="12 - TextBox"/>
          <p:cNvSpPr txBox="1"/>
          <p:nvPr/>
        </p:nvSpPr>
        <p:spPr>
          <a:xfrm>
            <a:off x="0" y="5229201"/>
            <a:ext cx="9144000" cy="1015663"/>
          </a:xfrm>
          <a:prstGeom prst="rect">
            <a:avLst/>
          </a:prstGeom>
          <a:noFill/>
        </p:spPr>
        <p:txBody>
          <a:bodyPr wrap="square" rtlCol="0">
            <a:spAutoFit/>
          </a:bodyPr>
          <a:lstStyle/>
          <a:p>
            <a:pPr algn="ctr"/>
            <a:r>
              <a:rPr lang="el-GR" sz="2000" dirty="0" smtClean="0"/>
              <a:t>Όσοι έχουν ψηφίσει, τείνουν να παρακολουθούν το συγκεκριμένο </a:t>
            </a:r>
            <a:r>
              <a:rPr lang="en-US" sz="2000" dirty="0" smtClean="0"/>
              <a:t>reality </a:t>
            </a:r>
            <a:r>
              <a:rPr lang="el-GR" sz="2000" dirty="0" smtClean="0"/>
              <a:t>πολύ, ενώ όσοι δεν ενδιαφέρθηκαν να ψηφίσουν, το παρακολουθούσαν σε μικρότερη ένταση. Γεγονός που είναι άκρως λογικό.</a:t>
            </a:r>
          </a:p>
        </p:txBody>
      </p:sp>
      <p:graphicFrame>
        <p:nvGraphicFramePr>
          <p:cNvPr id="19" name="1 - Γράφημα"/>
          <p:cNvGraphicFramePr/>
          <p:nvPr/>
        </p:nvGraphicFramePr>
        <p:xfrm>
          <a:off x="4572000" y="0"/>
          <a:ext cx="4572000" cy="6858000"/>
        </p:xfrm>
        <a:graphic>
          <a:graphicData uri="http://schemas.openxmlformats.org/drawingml/2006/chart">
            <c:chart xmlns:c="http://schemas.openxmlformats.org/drawingml/2006/chart" xmlns:r="http://schemas.openxmlformats.org/officeDocument/2006/relationships" r:id="rId3"/>
          </a:graphicData>
        </a:graphic>
      </p:graphicFrame>
      <p:sp>
        <p:nvSpPr>
          <p:cNvPr id="20" name="19 - TextBox"/>
          <p:cNvSpPr txBox="1"/>
          <p:nvPr/>
        </p:nvSpPr>
        <p:spPr>
          <a:xfrm>
            <a:off x="5004048" y="1340768"/>
            <a:ext cx="3384376" cy="400110"/>
          </a:xfrm>
          <a:prstGeom prst="rect">
            <a:avLst/>
          </a:prstGeom>
          <a:noFill/>
        </p:spPr>
        <p:txBody>
          <a:bodyPr wrap="square" rtlCol="0">
            <a:spAutoFit/>
          </a:bodyPr>
          <a:lstStyle/>
          <a:p>
            <a:pPr algn="ctr"/>
            <a:r>
              <a:rPr lang="el-GR" sz="2000" b="1" dirty="0" smtClean="0"/>
              <a:t>Όσοι δεν έχουν ψηφίσει</a:t>
            </a:r>
            <a:endParaRPr lang="el-GR" sz="2000" b="1" dirty="0"/>
          </a:p>
        </p:txBody>
      </p:sp>
    </p:spTree>
  </p:cSld>
  <p:clrMapOvr>
    <a:masterClrMapping/>
  </p:clrMapOvr>
  <p:transition spd="med">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5 - Γράφημα"/>
          <p:cNvGraphicFramePr>
            <a:graphicFrameLocks noGrp="1"/>
          </p:cNvGraphicFramePr>
          <p:nvPr>
            <p:ph idx="1"/>
          </p:nvPr>
        </p:nvGraphicFramePr>
        <p:xfrm>
          <a:off x="0" y="1556792"/>
          <a:ext cx="9144000" cy="4104456"/>
        </p:xfrm>
        <a:graphic>
          <a:graphicData uri="http://schemas.openxmlformats.org/drawingml/2006/chart">
            <c:chart xmlns:c="http://schemas.openxmlformats.org/drawingml/2006/chart" xmlns:r="http://schemas.openxmlformats.org/officeDocument/2006/relationships" r:id="rId2"/>
          </a:graphicData>
        </a:graphic>
      </p:graphicFrame>
      <p:sp>
        <p:nvSpPr>
          <p:cNvPr id="8" name="7 - TextBox"/>
          <p:cNvSpPr txBox="1"/>
          <p:nvPr/>
        </p:nvSpPr>
        <p:spPr>
          <a:xfrm>
            <a:off x="611560" y="404664"/>
            <a:ext cx="7920880" cy="492443"/>
          </a:xfrm>
          <a:prstGeom prst="rect">
            <a:avLst/>
          </a:prstGeom>
          <a:noFill/>
        </p:spPr>
        <p:txBody>
          <a:bodyPr wrap="square" rtlCol="0">
            <a:spAutoFit/>
          </a:bodyPr>
          <a:lstStyle/>
          <a:p>
            <a:pPr algn="ctr"/>
            <a:r>
              <a:rPr lang="el-GR" sz="2500" b="1" u="sng" dirty="0" smtClean="0"/>
              <a:t>Συχνότητα παρακολούθησης ανά φύλο</a:t>
            </a:r>
            <a:endParaRPr lang="el-GR" sz="2500" b="1" u="sng" dirty="0"/>
          </a:p>
        </p:txBody>
      </p:sp>
      <p:sp>
        <p:nvSpPr>
          <p:cNvPr id="9" name="8 - TextBox"/>
          <p:cNvSpPr txBox="1"/>
          <p:nvPr/>
        </p:nvSpPr>
        <p:spPr>
          <a:xfrm>
            <a:off x="467544" y="5445224"/>
            <a:ext cx="8280920" cy="400110"/>
          </a:xfrm>
          <a:prstGeom prst="rect">
            <a:avLst/>
          </a:prstGeom>
          <a:noFill/>
        </p:spPr>
        <p:txBody>
          <a:bodyPr wrap="square" rtlCol="0">
            <a:spAutoFit/>
          </a:bodyPr>
          <a:lstStyle/>
          <a:p>
            <a:r>
              <a:rPr lang="el-GR" sz="2000" b="1" dirty="0" smtClean="0"/>
              <a:t>	   Άντρες 				          Γυναίκες</a:t>
            </a:r>
            <a:endParaRPr lang="el-GR" sz="2000" b="1" dirty="0"/>
          </a:p>
        </p:txBody>
      </p:sp>
      <p:sp>
        <p:nvSpPr>
          <p:cNvPr id="5" name="4 - TextBox"/>
          <p:cNvSpPr txBox="1"/>
          <p:nvPr/>
        </p:nvSpPr>
        <p:spPr>
          <a:xfrm>
            <a:off x="323528" y="6237312"/>
            <a:ext cx="8280920" cy="369332"/>
          </a:xfrm>
          <a:prstGeom prst="rect">
            <a:avLst/>
          </a:prstGeom>
          <a:noFill/>
        </p:spPr>
        <p:txBody>
          <a:bodyPr wrap="square" rtlCol="0">
            <a:spAutoFit/>
          </a:bodyPr>
          <a:lstStyle/>
          <a:p>
            <a:pPr algn="ctr"/>
            <a:r>
              <a:rPr lang="el-GR" dirty="0" smtClean="0"/>
              <a:t>Οι γυναίκες τείνουν να παρακολουθούν πολύ περισσότερο το </a:t>
            </a:r>
            <a:r>
              <a:rPr lang="en-US" dirty="0" smtClean="0"/>
              <a:t>show.</a:t>
            </a:r>
            <a:endParaRPr lang="el-GR" dirty="0"/>
          </a:p>
        </p:txBody>
      </p:sp>
    </p:spTree>
  </p:cSld>
  <p:clrMapOvr>
    <a:masterClrMapping/>
  </p:clrMapOvr>
  <p:transition spd="med">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 Γράφημα"/>
          <p:cNvGraphicFramePr/>
          <p:nvPr/>
        </p:nvGraphicFramePr>
        <p:xfrm>
          <a:off x="0" y="1196752"/>
          <a:ext cx="9144000" cy="4536504"/>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323528" y="260648"/>
            <a:ext cx="8568952" cy="1138773"/>
          </a:xfrm>
          <a:prstGeom prst="rect">
            <a:avLst/>
          </a:prstGeom>
          <a:noFill/>
        </p:spPr>
        <p:txBody>
          <a:bodyPr wrap="square" rtlCol="0">
            <a:spAutoFit/>
          </a:bodyPr>
          <a:lstStyle/>
          <a:p>
            <a:pPr algn="ctr"/>
            <a:r>
              <a:rPr lang="el-GR" sz="2500" b="1" u="sng" dirty="0" smtClean="0"/>
              <a:t>Προτιμήσεις</a:t>
            </a:r>
            <a:r>
              <a:rPr lang="en-US" sz="2500" b="1" u="sng" dirty="0" smtClean="0"/>
              <a:t> </a:t>
            </a:r>
            <a:r>
              <a:rPr lang="el-GR" sz="2500" b="1" u="sng" dirty="0" smtClean="0"/>
              <a:t>των ερωτηθέντων ως προς το είδος της μουσικής που ακούνε. </a:t>
            </a:r>
          </a:p>
          <a:p>
            <a:pPr algn="ctr"/>
            <a:endParaRPr lang="en-US" dirty="0" smtClean="0"/>
          </a:p>
        </p:txBody>
      </p:sp>
      <p:sp>
        <p:nvSpPr>
          <p:cNvPr id="6" name="5 - TextBox"/>
          <p:cNvSpPr txBox="1"/>
          <p:nvPr/>
        </p:nvSpPr>
        <p:spPr>
          <a:xfrm>
            <a:off x="0" y="6021288"/>
            <a:ext cx="9144000" cy="707886"/>
          </a:xfrm>
          <a:prstGeom prst="rect">
            <a:avLst/>
          </a:prstGeom>
          <a:noFill/>
        </p:spPr>
        <p:txBody>
          <a:bodyPr wrap="square" rtlCol="0">
            <a:spAutoFit/>
          </a:bodyPr>
          <a:lstStyle/>
          <a:p>
            <a:pPr algn="ctr"/>
            <a:r>
              <a:rPr lang="el-GR" sz="2000" dirty="0" smtClean="0"/>
              <a:t>Το 57,4% του δείγματος προτιμά μεταξύ άλλων κυρίως την έντεχνη μουσική </a:t>
            </a:r>
            <a:endParaRPr lang="el-GR" sz="2000" dirty="0"/>
          </a:p>
        </p:txBody>
      </p:sp>
    </p:spTree>
  </p:cSld>
  <p:clrMapOvr>
    <a:masterClrMapping/>
  </p:clrMapOvr>
  <p:transition spd="med">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1 - Γράφημα"/>
          <p:cNvGraphicFramePr>
            <a:graphicFrameLocks noGrp="1"/>
          </p:cNvGraphicFramePr>
          <p:nvPr>
            <p:ph idx="1"/>
          </p:nvPr>
        </p:nvGraphicFramePr>
        <p:xfrm>
          <a:off x="0" y="1340768"/>
          <a:ext cx="9144000" cy="3816424"/>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323528" y="476672"/>
            <a:ext cx="8568952" cy="492443"/>
          </a:xfrm>
          <a:prstGeom prst="rect">
            <a:avLst/>
          </a:prstGeom>
          <a:noFill/>
        </p:spPr>
        <p:txBody>
          <a:bodyPr wrap="square" rtlCol="0">
            <a:spAutoFit/>
          </a:bodyPr>
          <a:lstStyle/>
          <a:p>
            <a:pPr algn="ctr"/>
            <a:r>
              <a:rPr lang="el-GR" sz="2500" b="1" u="sng" dirty="0" smtClean="0"/>
              <a:t>Ποσοστό ερασιτεχνικής ενασχόλησης με τη μουσική</a:t>
            </a:r>
            <a:endParaRPr lang="el-GR" sz="2500" b="1" u="sng" dirty="0"/>
          </a:p>
        </p:txBody>
      </p:sp>
      <p:sp>
        <p:nvSpPr>
          <p:cNvPr id="6" name="5 - TextBox"/>
          <p:cNvSpPr txBox="1"/>
          <p:nvPr/>
        </p:nvSpPr>
        <p:spPr>
          <a:xfrm>
            <a:off x="0" y="5661249"/>
            <a:ext cx="9144000" cy="1015663"/>
          </a:xfrm>
          <a:prstGeom prst="rect">
            <a:avLst/>
          </a:prstGeom>
          <a:noFill/>
        </p:spPr>
        <p:txBody>
          <a:bodyPr wrap="square" rtlCol="0">
            <a:spAutoFit/>
          </a:bodyPr>
          <a:lstStyle/>
          <a:p>
            <a:pPr algn="ctr"/>
            <a:r>
              <a:rPr lang="el-GR" sz="2000" dirty="0" smtClean="0"/>
              <a:t>Το </a:t>
            </a:r>
            <a:r>
              <a:rPr lang="en-US" sz="2000" dirty="0" smtClean="0"/>
              <a:t>81%</a:t>
            </a:r>
            <a:r>
              <a:rPr lang="el-GR" sz="2000" dirty="0" smtClean="0"/>
              <a:t>του δείγματος δεν ασχολείται με την μουσική. Υπάρχει  όμως και ένα σημαντικό ποσοστό της τάξης του 19% που διαθέτει μουσικές γνώσεις.</a:t>
            </a:r>
            <a:endParaRPr lang="el-GR" sz="2000" dirty="0"/>
          </a:p>
        </p:txBody>
      </p:sp>
    </p:spTree>
  </p:cSld>
  <p:clrMapOvr>
    <a:masterClrMapping/>
  </p:clrMapOvr>
  <p:transition spd="med">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1 - Γράφημα"/>
          <p:cNvGraphicFramePr/>
          <p:nvPr/>
        </p:nvGraphicFramePr>
        <p:xfrm>
          <a:off x="0" y="1772816"/>
          <a:ext cx="9144000" cy="4176464"/>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0" y="332656"/>
            <a:ext cx="9144000" cy="861774"/>
          </a:xfrm>
          <a:prstGeom prst="rect">
            <a:avLst/>
          </a:prstGeom>
          <a:noFill/>
        </p:spPr>
        <p:txBody>
          <a:bodyPr wrap="square" rtlCol="0">
            <a:spAutoFit/>
          </a:bodyPr>
          <a:lstStyle/>
          <a:p>
            <a:pPr algn="ctr"/>
            <a:r>
              <a:rPr lang="el-GR" sz="2500" b="1" u="sng" dirty="0" smtClean="0"/>
              <a:t>Λόγοι παρακολούθησης του </a:t>
            </a:r>
            <a:r>
              <a:rPr lang="en-US" sz="2500" b="1" u="sng" dirty="0" smtClean="0"/>
              <a:t>The Voice </a:t>
            </a:r>
            <a:r>
              <a:rPr lang="el-GR" sz="2500" b="1" u="sng" dirty="0" smtClean="0"/>
              <a:t>εκείνων που έχουν ψηφίσει</a:t>
            </a:r>
            <a:endParaRPr lang="el-GR" sz="2500" b="1" u="sng" dirty="0"/>
          </a:p>
        </p:txBody>
      </p:sp>
    </p:spTree>
  </p:cSld>
  <p:clrMapOvr>
    <a:masterClrMapping/>
  </p:clrMapOvr>
  <p:transition spd="med">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 Γράφημα"/>
          <p:cNvGraphicFramePr/>
          <p:nvPr/>
        </p:nvGraphicFramePr>
        <p:xfrm>
          <a:off x="0" y="1700808"/>
          <a:ext cx="9144000" cy="4536504"/>
        </p:xfrm>
        <a:graphic>
          <a:graphicData uri="http://schemas.openxmlformats.org/drawingml/2006/chart">
            <c:chart xmlns:c="http://schemas.openxmlformats.org/drawingml/2006/chart" xmlns:r="http://schemas.openxmlformats.org/officeDocument/2006/relationships" r:id="rId2"/>
          </a:graphicData>
        </a:graphic>
      </p:graphicFrame>
      <p:sp>
        <p:nvSpPr>
          <p:cNvPr id="6" name="5 - TextBox"/>
          <p:cNvSpPr txBox="1"/>
          <p:nvPr/>
        </p:nvSpPr>
        <p:spPr>
          <a:xfrm>
            <a:off x="0" y="188640"/>
            <a:ext cx="9144000" cy="861774"/>
          </a:xfrm>
          <a:prstGeom prst="rect">
            <a:avLst/>
          </a:prstGeom>
          <a:noFill/>
        </p:spPr>
        <p:txBody>
          <a:bodyPr wrap="square" rtlCol="0">
            <a:spAutoFit/>
          </a:bodyPr>
          <a:lstStyle/>
          <a:p>
            <a:pPr algn="ctr"/>
            <a:r>
              <a:rPr lang="el-GR" sz="2500" b="1" u="sng" dirty="0" smtClean="0"/>
              <a:t>Λόγοι παρακολούθησης του </a:t>
            </a:r>
            <a:r>
              <a:rPr lang="en-US" sz="2500" b="1" u="sng" dirty="0" smtClean="0"/>
              <a:t>The Voice </a:t>
            </a:r>
            <a:r>
              <a:rPr lang="el-GR" sz="2500" b="1" u="sng" dirty="0" smtClean="0"/>
              <a:t>εκείνων που δεν έχουν ψηφίσει</a:t>
            </a:r>
            <a:endParaRPr lang="el-GR" sz="2500" b="1" u="sng" dirty="0"/>
          </a:p>
        </p:txBody>
      </p:sp>
    </p:spTree>
  </p:cSld>
  <p:clrMapOvr>
    <a:masterClrMapping/>
  </p:clrMapOvr>
  <p:transition spd="med">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pPr algn="ctr"/>
            <a:r>
              <a:rPr lang="el-GR" b="1" u="sng" dirty="0" smtClean="0"/>
              <a:t>Παρατηρήσεις</a:t>
            </a:r>
            <a:endParaRPr lang="el-GR" b="1" u="sng" dirty="0"/>
          </a:p>
        </p:txBody>
      </p:sp>
      <p:sp>
        <p:nvSpPr>
          <p:cNvPr id="3" name="2 - Θέση περιεχομένου"/>
          <p:cNvSpPr>
            <a:spLocks noGrp="1"/>
          </p:cNvSpPr>
          <p:nvPr>
            <p:ph idx="1"/>
          </p:nvPr>
        </p:nvSpPr>
        <p:spPr/>
        <p:txBody>
          <a:bodyPr/>
          <a:lstStyle/>
          <a:p>
            <a:r>
              <a:rPr lang="el-GR" dirty="0" smtClean="0"/>
              <a:t>Όσοι έχουν ψηφίσει, παρακολουθούν συχνά το </a:t>
            </a:r>
            <a:r>
              <a:rPr lang="en-US" dirty="0" smtClean="0"/>
              <a:t>reality</a:t>
            </a:r>
            <a:r>
              <a:rPr lang="el-GR" dirty="0" smtClean="0"/>
              <a:t> και ο λόγος είναι, ότι θεωρούν, την διαδικασία εισαγωγής των διαγωνιζομένων αξιοκρατική.</a:t>
            </a:r>
          </a:p>
          <a:p>
            <a:r>
              <a:rPr lang="el-GR" dirty="0" smtClean="0"/>
              <a:t>Ενώ όσοι δεν έχουν ψηφίσει, παρακολουθούν περιστασιακά. Η συγκεκριμένη ομάδα ανθρώπων, παρακολουθεί κυρίως λόγω της δημοτικότητας των κριτών.</a:t>
            </a:r>
          </a:p>
        </p:txBody>
      </p:sp>
    </p:spTree>
  </p:cSld>
  <p:clrMapOvr>
    <a:masterClrMapping/>
  </p:clrMapOvr>
  <p:transition spd="med">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 Γράφημα"/>
          <p:cNvGraphicFramePr/>
          <p:nvPr/>
        </p:nvGraphicFramePr>
        <p:xfrm>
          <a:off x="0" y="1628800"/>
          <a:ext cx="9144000" cy="4392488"/>
        </p:xfrm>
        <a:graphic>
          <a:graphicData uri="http://schemas.openxmlformats.org/drawingml/2006/chart">
            <c:chart xmlns:c="http://schemas.openxmlformats.org/drawingml/2006/chart" xmlns:r="http://schemas.openxmlformats.org/officeDocument/2006/relationships" r:id="rId2"/>
          </a:graphicData>
        </a:graphic>
      </p:graphicFrame>
      <p:sp>
        <p:nvSpPr>
          <p:cNvPr id="6" name="5 - TextBox"/>
          <p:cNvSpPr txBox="1"/>
          <p:nvPr/>
        </p:nvSpPr>
        <p:spPr>
          <a:xfrm>
            <a:off x="0" y="548680"/>
            <a:ext cx="9144000" cy="492443"/>
          </a:xfrm>
          <a:prstGeom prst="rect">
            <a:avLst/>
          </a:prstGeom>
          <a:noFill/>
        </p:spPr>
        <p:txBody>
          <a:bodyPr wrap="square" rtlCol="0">
            <a:spAutoFit/>
          </a:bodyPr>
          <a:lstStyle/>
          <a:p>
            <a:pPr algn="ctr"/>
            <a:r>
              <a:rPr lang="el-GR" sz="2600" b="1" u="sng" dirty="0" smtClean="0"/>
              <a:t>Κριτήρια με βάση τα οποία ψηφίζουν οι τηλεθεατές</a:t>
            </a:r>
            <a:endParaRPr lang="el-GR" sz="2600" b="1" u="sng" dirty="0"/>
          </a:p>
        </p:txBody>
      </p:sp>
    </p:spTree>
  </p:cSld>
  <p:clrMapOvr>
    <a:masterClrMapping/>
  </p:clrMapOvr>
  <p:transition spd="med">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 Γράφημα"/>
          <p:cNvGraphicFramePr/>
          <p:nvPr/>
        </p:nvGraphicFramePr>
        <p:xfrm>
          <a:off x="2286000"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2 - Γράφημα"/>
          <p:cNvGraphicFramePr>
            <a:graphicFrameLocks noGrp="1"/>
          </p:cNvGraphicFramePr>
          <p:nvPr>
            <p:ph idx="1"/>
          </p:nvPr>
        </p:nvGraphicFramePr>
        <p:xfrm>
          <a:off x="0" y="1700808"/>
          <a:ext cx="9144000" cy="3600399"/>
        </p:xfrm>
        <a:graphic>
          <a:graphicData uri="http://schemas.openxmlformats.org/drawingml/2006/chart">
            <c:chart xmlns:c="http://schemas.openxmlformats.org/drawingml/2006/chart" xmlns:r="http://schemas.openxmlformats.org/officeDocument/2006/relationships" r:id="rId3"/>
          </a:graphicData>
        </a:graphic>
      </p:graphicFrame>
      <p:sp>
        <p:nvSpPr>
          <p:cNvPr id="7" name="6 - TextBox"/>
          <p:cNvSpPr txBox="1"/>
          <p:nvPr/>
        </p:nvSpPr>
        <p:spPr>
          <a:xfrm>
            <a:off x="755576" y="476672"/>
            <a:ext cx="7416824" cy="892552"/>
          </a:xfrm>
          <a:prstGeom prst="rect">
            <a:avLst/>
          </a:prstGeom>
          <a:noFill/>
        </p:spPr>
        <p:txBody>
          <a:bodyPr wrap="square" rtlCol="0">
            <a:spAutoFit/>
          </a:bodyPr>
          <a:lstStyle/>
          <a:p>
            <a:pPr algn="ctr"/>
            <a:r>
              <a:rPr lang="el-GR" sz="2600" b="1" u="sng" dirty="0" smtClean="0"/>
              <a:t>Ποσοστό ικανοποίησης με τον νικητή του </a:t>
            </a:r>
            <a:r>
              <a:rPr lang="en-US" sz="2600" b="1" u="sng" dirty="0" smtClean="0"/>
              <a:t>The Voice</a:t>
            </a:r>
            <a:r>
              <a:rPr lang="el-GR" sz="2600" b="1" u="sng" dirty="0" smtClean="0"/>
              <a:t> για το σύνολο του δείγματος</a:t>
            </a:r>
            <a:endParaRPr lang="el-GR" sz="2600" b="1" u="sng" dirty="0"/>
          </a:p>
        </p:txBody>
      </p:sp>
      <p:sp>
        <p:nvSpPr>
          <p:cNvPr id="5" name="4 - TextBox"/>
          <p:cNvSpPr txBox="1"/>
          <p:nvPr/>
        </p:nvSpPr>
        <p:spPr>
          <a:xfrm>
            <a:off x="611560" y="5949280"/>
            <a:ext cx="7920880" cy="707886"/>
          </a:xfrm>
          <a:prstGeom prst="rect">
            <a:avLst/>
          </a:prstGeom>
          <a:noFill/>
        </p:spPr>
        <p:txBody>
          <a:bodyPr wrap="square" rtlCol="0">
            <a:spAutoFit/>
          </a:bodyPr>
          <a:lstStyle/>
          <a:p>
            <a:pPr algn="ctr"/>
            <a:r>
              <a:rPr lang="el-GR" sz="2000" dirty="0" smtClean="0"/>
              <a:t>Η απόλυτη πλειοψηφία δηλώνει ότι δεν είναι ικανοποιημένη με τον νικητή του παιχνιδιού.</a:t>
            </a:r>
            <a:endParaRPr lang="el-GR" sz="2000" dirty="0"/>
          </a:p>
        </p:txBody>
      </p:sp>
    </p:spTree>
  </p:cSld>
  <p:clrMapOvr>
    <a:masterClrMapping/>
  </p:clrMapOvr>
  <p:transition spd="med">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4 - Γράφημα"/>
          <p:cNvGraphicFramePr/>
          <p:nvPr/>
        </p:nvGraphicFramePr>
        <p:xfrm>
          <a:off x="0" y="1700808"/>
          <a:ext cx="9144000" cy="4464496"/>
        </p:xfrm>
        <a:graphic>
          <a:graphicData uri="http://schemas.openxmlformats.org/drawingml/2006/chart">
            <c:chart xmlns:c="http://schemas.openxmlformats.org/drawingml/2006/chart" xmlns:r="http://schemas.openxmlformats.org/officeDocument/2006/relationships" r:id="rId2"/>
          </a:graphicData>
        </a:graphic>
      </p:graphicFrame>
      <p:sp>
        <p:nvSpPr>
          <p:cNvPr id="11" name="10 - TextBox"/>
          <p:cNvSpPr txBox="1"/>
          <p:nvPr/>
        </p:nvSpPr>
        <p:spPr>
          <a:xfrm>
            <a:off x="611560" y="6309320"/>
            <a:ext cx="7848872" cy="400110"/>
          </a:xfrm>
          <a:prstGeom prst="rect">
            <a:avLst/>
          </a:prstGeom>
          <a:noFill/>
        </p:spPr>
        <p:txBody>
          <a:bodyPr wrap="square" rtlCol="0">
            <a:spAutoFit/>
          </a:bodyPr>
          <a:lstStyle/>
          <a:p>
            <a:r>
              <a:rPr lang="el-GR" sz="2000" b="1" dirty="0" smtClean="0"/>
              <a:t>	    Ψήφισαν				Δεν ψήφισαν</a:t>
            </a:r>
            <a:endParaRPr lang="el-GR" sz="2000" b="1" dirty="0"/>
          </a:p>
        </p:txBody>
      </p:sp>
      <p:sp>
        <p:nvSpPr>
          <p:cNvPr id="12" name="11 - TextBox"/>
          <p:cNvSpPr txBox="1"/>
          <p:nvPr/>
        </p:nvSpPr>
        <p:spPr>
          <a:xfrm>
            <a:off x="0" y="332656"/>
            <a:ext cx="9144000" cy="477054"/>
          </a:xfrm>
          <a:prstGeom prst="rect">
            <a:avLst/>
          </a:prstGeom>
          <a:noFill/>
        </p:spPr>
        <p:txBody>
          <a:bodyPr wrap="square" rtlCol="0">
            <a:spAutoFit/>
          </a:bodyPr>
          <a:lstStyle/>
          <a:p>
            <a:pPr algn="ctr"/>
            <a:r>
              <a:rPr lang="el-GR" sz="2500" b="1" u="sng" dirty="0" smtClean="0"/>
              <a:t>Ποσοστό ικανοποίησης με τον νικητή του </a:t>
            </a:r>
            <a:r>
              <a:rPr lang="en-US" sz="2500" b="1" u="sng" dirty="0" smtClean="0"/>
              <a:t>The Voice</a:t>
            </a:r>
            <a:endParaRPr lang="el-GR" sz="2500" b="1" u="sng" dirty="0"/>
          </a:p>
        </p:txBody>
      </p:sp>
    </p:spTree>
  </p:cSld>
  <p:clrMapOvr>
    <a:masterClrMapping/>
  </p:clrMapOvr>
  <p:transition spd="med">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1 - Γράφημα"/>
          <p:cNvGraphicFramePr>
            <a:graphicFrameLocks noGrp="1"/>
          </p:cNvGraphicFramePr>
          <p:nvPr>
            <p:ph idx="1"/>
          </p:nvPr>
        </p:nvGraphicFramePr>
        <p:xfrm>
          <a:off x="0" y="1700808"/>
          <a:ext cx="9144000" cy="5157191"/>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179512" y="404664"/>
            <a:ext cx="8964488" cy="892552"/>
          </a:xfrm>
          <a:prstGeom prst="rect">
            <a:avLst/>
          </a:prstGeom>
          <a:noFill/>
        </p:spPr>
        <p:txBody>
          <a:bodyPr wrap="square" rtlCol="0">
            <a:spAutoFit/>
          </a:bodyPr>
          <a:lstStyle/>
          <a:p>
            <a:pPr algn="ctr"/>
            <a:r>
              <a:rPr lang="el-GR" sz="2500" b="1" u="sng" dirty="0" smtClean="0"/>
              <a:t>Συσχέτιση του ποσοστού ικανοποίησης και των μουσικών προτιμήσεων </a:t>
            </a:r>
            <a:endParaRPr lang="el-GR" sz="2500" b="1" u="sng" dirty="0"/>
          </a:p>
        </p:txBody>
      </p:sp>
    </p:spTree>
  </p:cSld>
  <p:clrMapOvr>
    <a:masterClrMapping/>
  </p:clrMapOvr>
  <p:transition spd="med">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pPr algn="ctr"/>
            <a:r>
              <a:rPr lang="el-GR" b="1" u="sng" dirty="0" smtClean="0"/>
              <a:t>Παρατηρήσεις</a:t>
            </a:r>
            <a:endParaRPr lang="el-GR" b="1" u="sng" dirty="0"/>
          </a:p>
        </p:txBody>
      </p:sp>
      <p:sp>
        <p:nvSpPr>
          <p:cNvPr id="3" name="2 - Θέση περιεχομένου"/>
          <p:cNvSpPr>
            <a:spLocks noGrp="1"/>
          </p:cNvSpPr>
          <p:nvPr>
            <p:ph idx="1"/>
          </p:nvPr>
        </p:nvSpPr>
        <p:spPr/>
        <p:txBody>
          <a:bodyPr>
            <a:normAutofit fontScale="92500" lnSpcReduction="10000"/>
          </a:bodyPr>
          <a:lstStyle/>
          <a:p>
            <a:r>
              <a:rPr lang="el-GR" dirty="0" smtClean="0"/>
              <a:t>Όσοι ψήφισαν, είναι ικανοποιημένοι με τον νικητή</a:t>
            </a:r>
          </a:p>
          <a:p>
            <a:r>
              <a:rPr lang="el-GR" dirty="0" smtClean="0"/>
              <a:t>Ενώ, όσοι δεν ψήφισαν, δηλώνουν ότι δεν είναι ικανοποιημένοι με τον νικητή.</a:t>
            </a:r>
          </a:p>
          <a:p>
            <a:r>
              <a:rPr lang="el-GR" dirty="0" smtClean="0"/>
              <a:t>Στη συνέχεια παρατηρούμε ότι, ένας που ακούει  έντεχνη μουσική, έχει πιθανότητα 65% να είναι ικανοποιημένος με τον νικητή, γεγονός που δηλώνει ότι, οι προτιμήσεις ως προς τη μουσική δεν επηρεάζουν σημαντικά την επιλογή του νικητή, ο οποίος ερμηνεύει ένα εντελώς διαφορετικό είδος μουσικής.</a:t>
            </a:r>
          </a:p>
          <a:p>
            <a:endParaRPr lang="el-GR" dirty="0" smtClean="0"/>
          </a:p>
          <a:p>
            <a:endParaRPr lang="el-GR" dirty="0" smtClean="0"/>
          </a:p>
          <a:p>
            <a:endParaRPr lang="el-GR" dirty="0"/>
          </a:p>
        </p:txBody>
      </p:sp>
    </p:spTree>
  </p:cSld>
  <p:clrMapOvr>
    <a:masterClrMapping/>
  </p:clrMapOvr>
  <p:transition spd="med">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2 - Γράφημα"/>
          <p:cNvGraphicFramePr/>
          <p:nvPr/>
        </p:nvGraphicFramePr>
        <p:xfrm>
          <a:off x="0" y="1628800"/>
          <a:ext cx="3995936" cy="3744416"/>
        </p:xfrm>
        <a:graphic>
          <a:graphicData uri="http://schemas.openxmlformats.org/drawingml/2006/chart">
            <c:chart xmlns:c="http://schemas.openxmlformats.org/drawingml/2006/chart" xmlns:r="http://schemas.openxmlformats.org/officeDocument/2006/relationships" r:id="rId2"/>
          </a:graphicData>
        </a:graphic>
      </p:graphicFrame>
      <p:sp>
        <p:nvSpPr>
          <p:cNvPr id="5" name="4 - TextBox"/>
          <p:cNvSpPr txBox="1"/>
          <p:nvPr/>
        </p:nvSpPr>
        <p:spPr>
          <a:xfrm>
            <a:off x="0" y="188640"/>
            <a:ext cx="9144000" cy="1292662"/>
          </a:xfrm>
          <a:prstGeom prst="rect">
            <a:avLst/>
          </a:prstGeom>
          <a:noFill/>
        </p:spPr>
        <p:txBody>
          <a:bodyPr wrap="square" rtlCol="0">
            <a:spAutoFit/>
          </a:bodyPr>
          <a:lstStyle/>
          <a:p>
            <a:pPr algn="ctr"/>
            <a:r>
              <a:rPr lang="el-GR" sz="2500" b="1" u="sng" dirty="0" smtClean="0"/>
              <a:t>Ποσοστά ικανοποίησης των ατόμων που έχουν ψηφίσει ανάλογα με τις μουσικές τους γνώσεις</a:t>
            </a:r>
          </a:p>
          <a:p>
            <a:pPr algn="ctr"/>
            <a:endParaRPr lang="el-GR" sz="2600" b="1" dirty="0" smtClean="0"/>
          </a:p>
        </p:txBody>
      </p:sp>
      <p:sp>
        <p:nvSpPr>
          <p:cNvPr id="9" name="8 - TextBox"/>
          <p:cNvSpPr txBox="1"/>
          <p:nvPr/>
        </p:nvSpPr>
        <p:spPr>
          <a:xfrm>
            <a:off x="179512" y="5805264"/>
            <a:ext cx="3600400" cy="646331"/>
          </a:xfrm>
          <a:prstGeom prst="rect">
            <a:avLst/>
          </a:prstGeom>
          <a:noFill/>
        </p:spPr>
        <p:txBody>
          <a:bodyPr wrap="square" rtlCol="0">
            <a:spAutoFit/>
          </a:bodyPr>
          <a:lstStyle/>
          <a:p>
            <a:pPr algn="ctr"/>
            <a:r>
              <a:rPr lang="el-GR" b="1" dirty="0" smtClean="0"/>
              <a:t>Ασχολούνται ερασιτεχνικά με την μουσική </a:t>
            </a:r>
            <a:endParaRPr lang="el-GR" b="1" dirty="0"/>
          </a:p>
        </p:txBody>
      </p:sp>
      <p:sp>
        <p:nvSpPr>
          <p:cNvPr id="11" name="10 - TextBox"/>
          <p:cNvSpPr txBox="1"/>
          <p:nvPr/>
        </p:nvSpPr>
        <p:spPr>
          <a:xfrm>
            <a:off x="5148064" y="5805264"/>
            <a:ext cx="3744416" cy="646331"/>
          </a:xfrm>
          <a:prstGeom prst="rect">
            <a:avLst/>
          </a:prstGeom>
          <a:noFill/>
        </p:spPr>
        <p:txBody>
          <a:bodyPr wrap="square" rtlCol="0">
            <a:spAutoFit/>
          </a:bodyPr>
          <a:lstStyle/>
          <a:p>
            <a:pPr algn="ctr"/>
            <a:r>
              <a:rPr lang="el-GR" b="1" dirty="0" smtClean="0"/>
              <a:t>Δεν ασχολούνται ερασιτεχνικά με την μουσική </a:t>
            </a:r>
            <a:endParaRPr lang="el-GR" b="1" dirty="0"/>
          </a:p>
        </p:txBody>
      </p:sp>
      <p:graphicFrame>
        <p:nvGraphicFramePr>
          <p:cNvPr id="8" name="2 - Γράφημα"/>
          <p:cNvGraphicFramePr/>
          <p:nvPr/>
        </p:nvGraphicFramePr>
        <p:xfrm>
          <a:off x="4644008" y="1412776"/>
          <a:ext cx="4499992" cy="410445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4 - Γράφημα"/>
          <p:cNvGraphicFramePr/>
          <p:nvPr/>
        </p:nvGraphicFramePr>
        <p:xfrm>
          <a:off x="0" y="1772816"/>
          <a:ext cx="9144000" cy="4392488"/>
        </p:xfrm>
        <a:graphic>
          <a:graphicData uri="http://schemas.openxmlformats.org/drawingml/2006/chart">
            <c:chart xmlns:c="http://schemas.openxmlformats.org/drawingml/2006/chart" xmlns:r="http://schemas.openxmlformats.org/officeDocument/2006/relationships" r:id="rId2"/>
          </a:graphicData>
        </a:graphic>
      </p:graphicFrame>
      <p:sp>
        <p:nvSpPr>
          <p:cNvPr id="7" name="6 - TextBox"/>
          <p:cNvSpPr txBox="1"/>
          <p:nvPr/>
        </p:nvSpPr>
        <p:spPr>
          <a:xfrm>
            <a:off x="0" y="332656"/>
            <a:ext cx="8964488" cy="861774"/>
          </a:xfrm>
          <a:prstGeom prst="rect">
            <a:avLst/>
          </a:prstGeom>
          <a:noFill/>
        </p:spPr>
        <p:txBody>
          <a:bodyPr wrap="square" rtlCol="0">
            <a:spAutoFit/>
          </a:bodyPr>
          <a:lstStyle/>
          <a:p>
            <a:pPr algn="ctr"/>
            <a:r>
              <a:rPr lang="el-GR" sz="2500" b="1" u="sng" dirty="0" smtClean="0"/>
              <a:t>Ποσοστό ικανοποίησης σε σχέση με τη συχνότητα παρακολούθησης</a:t>
            </a:r>
            <a:endParaRPr lang="el-GR" sz="2500" b="1" u="sng" dirty="0"/>
          </a:p>
        </p:txBody>
      </p:sp>
    </p:spTree>
  </p:cSld>
  <p:clrMapOvr>
    <a:masterClrMapping/>
  </p:clrMapOvr>
  <p:transition spd="med">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pPr algn="ctr"/>
            <a:r>
              <a:rPr lang="el-GR" b="1" u="sng" dirty="0" smtClean="0"/>
              <a:t>Παρατηρήσεις </a:t>
            </a:r>
            <a:endParaRPr lang="el-GR" b="1" u="sng" dirty="0"/>
          </a:p>
        </p:txBody>
      </p:sp>
      <p:sp>
        <p:nvSpPr>
          <p:cNvPr id="3" name="2 - Θέση περιεχομένου"/>
          <p:cNvSpPr>
            <a:spLocks noGrp="1"/>
          </p:cNvSpPr>
          <p:nvPr>
            <p:ph idx="1"/>
          </p:nvPr>
        </p:nvSpPr>
        <p:spPr/>
        <p:txBody>
          <a:bodyPr>
            <a:normAutofit fontScale="92500" lnSpcReduction="10000"/>
          </a:bodyPr>
          <a:lstStyle/>
          <a:p>
            <a:r>
              <a:rPr lang="el-GR" dirty="0" smtClean="0"/>
              <a:t>Παρατηρούμε ότι, όσοι ασχολούνται με τη μουσική είναι κατά πλειοψηφία δυσαρεστημένοι με τον νικητή.</a:t>
            </a:r>
          </a:p>
          <a:p>
            <a:r>
              <a:rPr lang="el-GR" dirty="0" smtClean="0"/>
              <a:t>Όσοι δεν ασχολούνται με τη μουσική είναι ελαφρώς ικανοποιημένοι με τον νικητή.</a:t>
            </a:r>
          </a:p>
          <a:p>
            <a:r>
              <a:rPr lang="el-GR" dirty="0" smtClean="0"/>
              <a:t>Στο τελευταίο διάγραμμα αποδεικνύεται ότι οι περιστασιακοί τηλεθεατές είναι δυσαρεστημένοι με τον νικητή, σε αντίθεση με τους «πιστούς» τηλεθεατές οι οποίοι όμως αποτελούν ένα πολύ μικρό ποσοστό του δείγματος όπως έχουμε δείξει παραπάνω.</a:t>
            </a:r>
          </a:p>
        </p:txBody>
      </p:sp>
    </p:spTree>
  </p:cSld>
  <p:clrMapOvr>
    <a:masterClrMapping/>
  </p:clrMapOvr>
  <p:transition spd="med">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pPr marL="1227582" indent="-742950" algn="ctr"/>
            <a:r>
              <a:rPr lang="el-GR" b="1" u="sng" dirty="0" smtClean="0"/>
              <a:t>Συμπεράσματα</a:t>
            </a:r>
            <a:endParaRPr lang="el-GR" b="1" u="sng" dirty="0"/>
          </a:p>
        </p:txBody>
      </p:sp>
      <p:sp>
        <p:nvSpPr>
          <p:cNvPr id="3" name="2 - Θέση περιεχομένου"/>
          <p:cNvSpPr>
            <a:spLocks noGrp="1"/>
          </p:cNvSpPr>
          <p:nvPr>
            <p:ph idx="1"/>
          </p:nvPr>
        </p:nvSpPr>
        <p:spPr/>
        <p:txBody>
          <a:bodyPr>
            <a:normAutofit fontScale="92500" lnSpcReduction="10000"/>
          </a:bodyPr>
          <a:lstStyle/>
          <a:p>
            <a:pPr marL="578358" indent="-514350">
              <a:buFont typeface="+mj-lt"/>
              <a:buAutoNum type="arabicPeriod"/>
            </a:pPr>
            <a:r>
              <a:rPr lang="el-GR" dirty="0" smtClean="0"/>
              <a:t>Άρα τα κριτήρια με τα οποία αναδεικνύεται ο νικητής είναι η φωνή αλλά και η δημοτικότητα του </a:t>
            </a:r>
            <a:r>
              <a:rPr lang="en-US" dirty="0" smtClean="0"/>
              <a:t>coach</a:t>
            </a:r>
            <a:r>
              <a:rPr lang="el-GR" dirty="0" smtClean="0"/>
              <a:t> που τον έχει αναλάβει.</a:t>
            </a:r>
          </a:p>
          <a:p>
            <a:pPr marL="578358" indent="-514350">
              <a:buFont typeface="+mj-lt"/>
              <a:buAutoNum type="arabicPeriod"/>
            </a:pPr>
            <a:r>
              <a:rPr lang="el-GR" dirty="0" smtClean="0"/>
              <a:t>Ο λόγος, όμως, που ο νικητής αποδεικνύεται εφήμερος είναι ότι:</a:t>
            </a:r>
          </a:p>
          <a:p>
            <a:pPr marL="953262" lvl="1" indent="-514350">
              <a:buFont typeface="+mj-lt"/>
              <a:buAutoNum type="arabicPeriod"/>
            </a:pPr>
            <a:r>
              <a:rPr lang="el-GR" dirty="0" smtClean="0"/>
              <a:t>Η δημοτικότητα του αντανακλά σε ένα μικρό ποσοστό του πληθυσμού</a:t>
            </a:r>
          </a:p>
          <a:p>
            <a:pPr marL="953262" lvl="1" indent="-514350">
              <a:buFont typeface="+mj-lt"/>
              <a:buAutoNum type="arabicPeriod"/>
            </a:pPr>
            <a:r>
              <a:rPr lang="el-GR" dirty="0" smtClean="0"/>
              <a:t>Η κυριαρχούσα πλειοψηφία των ατόμων που διαθέτουν κάποιες μουσικές γνώσεις  δηλώνει ότι δεν είναι ικανοποιημένη με τον νικητή.</a:t>
            </a:r>
          </a:p>
        </p:txBody>
      </p:sp>
    </p:spTree>
  </p:cSld>
  <p:clrMapOvr>
    <a:masterClrMapping/>
  </p:clrMapOvr>
  <p:transition spd="med">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Ζωντάνια">
  <a:themeElements>
    <a:clrScheme name="Ζωντάνια">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Ζωντάνια">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Ζωντάνια">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2278</TotalTime>
  <Words>774</Words>
  <Application>Microsoft Office PowerPoint</Application>
  <PresentationFormat>Προβολή στην οθόνη (4:3)</PresentationFormat>
  <Paragraphs>97</Paragraphs>
  <Slides>24</Slides>
  <Notes>0</Notes>
  <HiddenSlides>0</HiddenSlides>
  <MMClips>0</MMClips>
  <ScaleCrop>false</ScaleCrop>
  <HeadingPairs>
    <vt:vector size="4" baseType="variant">
      <vt:variant>
        <vt:lpstr>Θέμα</vt:lpstr>
      </vt:variant>
      <vt:variant>
        <vt:i4>1</vt:i4>
      </vt:variant>
      <vt:variant>
        <vt:lpstr>Τίτλοι διαφανειών</vt:lpstr>
      </vt:variant>
      <vt:variant>
        <vt:i4>24</vt:i4>
      </vt:variant>
    </vt:vector>
  </HeadingPairs>
  <TitlesOfParts>
    <vt:vector size="25" baseType="lpstr">
      <vt:lpstr>Ζωντάνια</vt:lpstr>
      <vt:lpstr>Νικητής του The Voice: πραγματικός νικητής ή πυροτέχνημα;</vt:lpstr>
      <vt:lpstr>Διαφάνεια 2</vt:lpstr>
      <vt:lpstr>Διαφάνεια 3</vt:lpstr>
      <vt:lpstr>Μεθοδολογία </vt:lpstr>
      <vt:lpstr>Διαφάνεια 5</vt:lpstr>
      <vt:lpstr>Χαρακτηριστικά Δείγματος</vt:lpstr>
      <vt:lpstr>Διαφάνεια 7</vt:lpstr>
      <vt:lpstr>Διαφάνεια 8</vt:lpstr>
      <vt:lpstr>Διαφάνεια 9</vt:lpstr>
      <vt:lpstr>Διαφάνεια 10</vt:lpstr>
      <vt:lpstr>Διαφάνεια 11</vt:lpstr>
      <vt:lpstr>Διαφάνεια 12</vt:lpstr>
      <vt:lpstr>Διαφάνεια 13</vt:lpstr>
      <vt:lpstr>Διαφάνεια 14</vt:lpstr>
      <vt:lpstr>Παρατηρήσεις</vt:lpstr>
      <vt:lpstr>Διαφάνεια 16</vt:lpstr>
      <vt:lpstr>Διαφάνεια 17</vt:lpstr>
      <vt:lpstr>Διαφάνεια 18</vt:lpstr>
      <vt:lpstr>Διαφάνεια 19</vt:lpstr>
      <vt:lpstr>Παρατηρήσεις</vt:lpstr>
      <vt:lpstr>Διαφάνεια 21</vt:lpstr>
      <vt:lpstr>Διαφάνεια 22</vt:lpstr>
      <vt:lpstr>Παρατηρήσεις </vt:lpstr>
      <vt:lpstr>Συμπεράσματα</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Οικονομική  των μέσων Ψυχαγωγίας &amp; Ενημέρωσης</dc:title>
  <dc:creator>Admin</dc:creator>
  <cp:lastModifiedBy>Admin</cp:lastModifiedBy>
  <cp:revision>120</cp:revision>
  <dcterms:created xsi:type="dcterms:W3CDTF">2017-04-29T10:04:14Z</dcterms:created>
  <dcterms:modified xsi:type="dcterms:W3CDTF">2017-05-22T08:03:32Z</dcterms:modified>
</cp:coreProperties>
</file>